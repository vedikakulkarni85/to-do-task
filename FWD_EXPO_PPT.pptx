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6"/>
  </p:notesMasterIdLst>
  <p:handoutMasterIdLst>
    <p:handoutMasterId r:id="rId27"/>
  </p:handoutMasterIdLst>
  <p:sldIdLst>
    <p:sldId id="314" r:id="rId3"/>
    <p:sldId id="322" r:id="rId4"/>
    <p:sldId id="323" r:id="rId5"/>
    <p:sldId id="350" r:id="rId6"/>
    <p:sldId id="266" r:id="rId7"/>
    <p:sldId id="341" r:id="rId8"/>
    <p:sldId id="342" r:id="rId9"/>
    <p:sldId id="343" r:id="rId10"/>
    <p:sldId id="344" r:id="rId11"/>
    <p:sldId id="345" r:id="rId12"/>
    <p:sldId id="355" r:id="rId13"/>
    <p:sldId id="349" r:id="rId14"/>
    <p:sldId id="356" r:id="rId15"/>
    <p:sldId id="351" r:id="rId16"/>
    <p:sldId id="357" r:id="rId17"/>
    <p:sldId id="353" r:id="rId18"/>
    <p:sldId id="358" r:id="rId19"/>
    <p:sldId id="354" r:id="rId20"/>
    <p:sldId id="359" r:id="rId21"/>
    <p:sldId id="340" r:id="rId22"/>
    <p:sldId id="347" r:id="rId23"/>
    <p:sldId id="348" r:id="rId24"/>
    <p:sldId id="33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p:scale>
          <a:sx n="66" d="100"/>
          <a:sy n="66" d="100"/>
        </p:scale>
        <p:origin x="1118" y="413"/>
      </p:cViewPr>
      <p:guideLst>
        <p:guide orient="horz" pos="2160"/>
        <p:guide pos="3840"/>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pPr/>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pPr/>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pPr/>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pPr/>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pPr/>
              <a:t>09-03-2026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pPr/>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pPr/>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pPr/>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pPr/>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pPr/>
              <a:t>09-03-2026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pPr/>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pPr/>
              <a:t>09-03-2026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pPr/>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pPr/>
              <a:t>09-03-2026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pPr/>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pPr/>
              <a:t>09-03-2026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pPr/>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pPr/>
              <a:t>09-03-2026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pPr/>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pPr/>
              <a:t>09-03-2026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pPr/>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pPr/>
              <a:t>09-03-2026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pPr/>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pPr/>
              <a:t>09-03-2026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pPr/>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pPr/>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pPr/>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pPr/>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pPr/>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pPr/>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pPr/>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pPr/>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pPr/>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pPr/>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pPr/>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pPr/>
              <a:t>09-03-2026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pPr/>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pPr/>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pPr/>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To Do Task</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Vedika Kulkarni</a:t>
            </a:r>
          </a:p>
          <a:p>
            <a:pPr marL="0" indent="0" algn="ctr">
              <a:buNone/>
            </a:pPr>
            <a:r>
              <a:rPr lang="en-US" sz="9600" dirty="0"/>
              <a:t>Student ID: 2520030350</a:t>
            </a:r>
            <a:endParaRPr lang="en-US" sz="2400" dirty="0"/>
          </a:p>
          <a:p>
            <a:pPr marL="0" indent="0" algn="ctr">
              <a:buNone/>
            </a:pPr>
            <a:r>
              <a:rPr lang="en-US" sz="11200" dirty="0"/>
              <a:t>Cluster:2</a:t>
            </a:r>
          </a:p>
          <a:p>
            <a:pPr marL="0" indent="0" algn="ctr">
              <a:buNone/>
            </a:pPr>
            <a:r>
              <a:rPr lang="en-US" sz="11200" dirty="0"/>
              <a:t>Section:7 </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pPr/>
              <a:t>09-03-2026</a:t>
            </a:fld>
            <a:endParaRPr lang="en-US"/>
          </a:p>
        </p:txBody>
      </p:sp>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US" sz="8600" dirty="0" err="1">
                <a:solidFill>
                  <a:srgbClr val="00B050"/>
                </a:solidFill>
              </a:rPr>
              <a:t>Pavithra</a:t>
            </a:r>
            <a:r>
              <a:rPr lang="en-US" sz="8600" dirty="0">
                <a:solidFill>
                  <a:srgbClr val="00B050"/>
                </a:solidFill>
              </a:rPr>
              <a:t> </a:t>
            </a:r>
            <a:r>
              <a:rPr lang="en-US" sz="8600" dirty="0" err="1">
                <a:solidFill>
                  <a:srgbClr val="00B050"/>
                </a:solidFill>
              </a:rPr>
              <a:t>Duggineni</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pPr/>
              <a:t>1</a:t>
            </a:fld>
            <a:endParaRPr lang="en-US"/>
          </a:p>
        </p:txBody>
      </p:sp>
      <p:pic>
        <p:nvPicPr>
          <p:cNvPr id="7" name="Picture 6">
            <a:extLst>
              <a:ext uri="{FF2B5EF4-FFF2-40B4-BE49-F238E27FC236}">
                <a16:creationId xmlns:a16="http://schemas.microsoft.com/office/drawing/2014/main" id="{0A8FACC9-4B34-0F75-65F7-9305FDB2E184}"/>
              </a:ext>
            </a:extLst>
          </p:cNvPr>
          <p:cNvPicPr>
            <a:picLocks noChangeAspect="1"/>
          </p:cNvPicPr>
          <p:nvPr/>
        </p:nvPicPr>
        <p:blipFill>
          <a:blip r:embed="rId2"/>
          <a:stretch>
            <a:fillRect/>
          </a:stretch>
        </p:blipFill>
        <p:spPr>
          <a:xfrm>
            <a:off x="5198915" y="5250606"/>
            <a:ext cx="2133898" cy="914528"/>
          </a:xfrm>
          <a:prstGeom prst="rect">
            <a:avLst/>
          </a:prstGeom>
        </p:spPr>
      </p:pic>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700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a:t>
            </a:r>
          </a:p>
          <a:p>
            <a:pPr marL="914400" lvl="1" indent="-457200">
              <a:buAutoNum type="arabicPeriod" startAt="3"/>
            </a:pPr>
            <a:r>
              <a:rPr lang="en-IN" dirty="0"/>
              <a:t> Co3</a:t>
            </a:r>
          </a:p>
          <a:p>
            <a:pPr marL="914400" lvl="1" indent="-457200">
              <a:buAutoNum type="arabicPeriod" startAt="3"/>
            </a:pPr>
            <a:r>
              <a:rPr lang="en-IN" dirty="0"/>
              <a:t>  Co4</a:t>
            </a:r>
          </a:p>
          <a:p>
            <a:pPr marL="914400" lvl="1" indent="-457200">
              <a:buAutoNum type="arabicPeriod" startAt="3"/>
            </a:pPr>
            <a:r>
              <a:rPr lang="en-IN" dirty="0"/>
              <a:t> Co5</a:t>
            </a:r>
          </a:p>
          <a:p>
            <a:pPr marL="514350" indent="-514350">
              <a:buFont typeface="+mj-lt"/>
              <a:buAutoNum type="arabicPeriod"/>
            </a:pPr>
            <a:r>
              <a:rPr lang="en-IN" dirty="0"/>
              <a:t>Screen Shots for FWD </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pPr/>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pPr/>
              <a:t>2</a:t>
            </a:fld>
            <a:endParaRPr lang="en-US"/>
          </a:p>
        </p:txBody>
      </p:sp>
      <p:pic>
        <p:nvPicPr>
          <p:cNvPr id="3" name="Picture 2">
            <a:extLst>
              <a:ext uri="{FF2B5EF4-FFF2-40B4-BE49-F238E27FC236}">
                <a16:creationId xmlns:a16="http://schemas.microsoft.com/office/drawing/2014/main" id="{F1C2B823-0816-8E6B-3C25-C0FC0B33C65D}"/>
              </a:ext>
            </a:extLst>
          </p:cNvPr>
          <p:cNvPicPr>
            <a:picLocks noChangeAspect="1"/>
          </p:cNvPicPr>
          <p:nvPr/>
        </p:nvPicPr>
        <p:blipFill>
          <a:blip r:embed="rId2"/>
          <a:stretch>
            <a:fillRect/>
          </a:stretch>
        </p:blipFill>
        <p:spPr>
          <a:xfrm>
            <a:off x="0" y="14602"/>
            <a:ext cx="2133898" cy="914528"/>
          </a:xfrm>
          <a:prstGeom prst="rect">
            <a:avLst/>
          </a:prstGeom>
        </p:spPr>
      </p:pic>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a:bodyPr>
          <a:lstStyle/>
          <a:p>
            <a:r>
              <a:rPr lang="en-US" dirty="0"/>
              <a:t>The </a:t>
            </a:r>
            <a:r>
              <a:rPr lang="en-US" b="1" dirty="0"/>
              <a:t>Simple To-Do List Web Application</a:t>
            </a:r>
            <a:r>
              <a:rPr lang="en-US" dirty="0"/>
              <a:t> helps users manage daily tasks efficiently. It allows users to add tasks, assign priorities, and mark tasks as completed using a simple and interactive interface built with </a:t>
            </a:r>
            <a:r>
              <a:rPr lang="en-US" b="1" dirty="0"/>
              <a:t>HTML, CSS, and JavaScript</a:t>
            </a:r>
            <a:r>
              <a:rPr lang="en-US" dirty="0"/>
              <a:t>.</a:t>
            </a:r>
          </a:p>
          <a:p>
            <a:r>
              <a:rPr lang="en-US" dirty="0"/>
              <a:t>The application uses different </a:t>
            </a:r>
            <a:r>
              <a:rPr lang="en-US" b="1" dirty="0"/>
              <a:t>data structures</a:t>
            </a:r>
            <a:r>
              <a:rPr lang="en-US" dirty="0"/>
              <a:t> to manage tasks effectively: a </a:t>
            </a:r>
            <a:r>
              <a:rPr lang="en-US" b="1" dirty="0"/>
              <a:t>Linked List</a:t>
            </a:r>
            <a:r>
              <a:rPr lang="en-US" dirty="0"/>
              <a:t> to store tasks dynamically, a </a:t>
            </a:r>
            <a:r>
              <a:rPr lang="en-US" b="1" dirty="0"/>
              <a:t>Queue</a:t>
            </a:r>
            <a:r>
              <a:rPr lang="en-US" dirty="0"/>
              <a:t> to manage task order, a </a:t>
            </a:r>
            <a:r>
              <a:rPr lang="en-US" b="1" dirty="0"/>
              <a:t>Stack</a:t>
            </a:r>
            <a:r>
              <a:rPr lang="en-US" dirty="0"/>
              <a:t> to track completed tasks, and a </a:t>
            </a:r>
            <a:r>
              <a:rPr lang="en-US" b="1" dirty="0"/>
              <a:t>Priority Queue</a:t>
            </a:r>
            <a:r>
              <a:rPr lang="en-US" dirty="0"/>
              <a:t> to organize tasks based on priority. This project demonstrates how </a:t>
            </a:r>
            <a:r>
              <a:rPr lang="en-US" b="1" dirty="0"/>
              <a:t>data structures can be applied in real-world web applications</a:t>
            </a:r>
            <a:r>
              <a:rPr lang="en-US" dirty="0"/>
              <a:t> for better task organization and productivity.</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pPr/>
              <a:t>09-03-2026</a:t>
            </a:fld>
            <a:endParaRPr lang="en-US" dirty="0"/>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pPr/>
              <a:t>3</a:t>
            </a:fld>
            <a:endParaRPr lang="en-US"/>
          </a:p>
        </p:txBody>
      </p:sp>
      <p:sp>
        <p:nvSpPr>
          <p:cNvPr id="2" name="TextBox 1">
            <a:extLst>
              <a:ext uri="{FF2B5EF4-FFF2-40B4-BE49-F238E27FC236}">
                <a16:creationId xmlns:a16="http://schemas.microsoft.com/office/drawing/2014/main" id="{A4F4A781-0C0A-3582-3BA4-035FE839240F}"/>
              </a:ext>
            </a:extLst>
          </p:cNvPr>
          <p:cNvSpPr txBox="1"/>
          <p:nvPr/>
        </p:nvSpPr>
        <p:spPr>
          <a:xfrm>
            <a:off x="5334926" y="1218775"/>
            <a:ext cx="1522148" cy="369332"/>
          </a:xfrm>
          <a:prstGeom prst="rect">
            <a:avLst/>
          </a:prstGeom>
          <a:noFill/>
        </p:spPr>
        <p:txBody>
          <a:bodyPr wrap="none" rtlCol="0">
            <a:spAutoFit/>
          </a:bodyPr>
          <a:lstStyle/>
          <a:p>
            <a:r>
              <a:rPr lang="en-US" dirty="0"/>
              <a:t>PARAGRAPH:1</a:t>
            </a:r>
            <a:endParaRPr lang="en-IN" dirty="0"/>
          </a:p>
        </p:txBody>
      </p:sp>
      <p:pic>
        <p:nvPicPr>
          <p:cNvPr id="4" name="Picture 3">
            <a:extLst>
              <a:ext uri="{FF2B5EF4-FFF2-40B4-BE49-F238E27FC236}">
                <a16:creationId xmlns:a16="http://schemas.microsoft.com/office/drawing/2014/main" id="{B163229E-668F-CDDA-C1A2-446E64C5E3DA}"/>
              </a:ext>
            </a:extLst>
          </p:cNvPr>
          <p:cNvPicPr>
            <a:picLocks noChangeAspect="1"/>
          </p:cNvPicPr>
          <p:nvPr/>
        </p:nvPicPr>
        <p:blipFill>
          <a:blip r:embed="rId2"/>
          <a:stretch>
            <a:fillRect/>
          </a:stretch>
        </p:blipFill>
        <p:spPr>
          <a:xfrm>
            <a:off x="19625" y="-15837"/>
            <a:ext cx="2133898" cy="914528"/>
          </a:xfrm>
          <a:prstGeom prst="rect">
            <a:avLst/>
          </a:prstGeom>
        </p:spPr>
      </p:pic>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ABSTRACT</a:t>
            </a:r>
          </a:p>
        </p:txBody>
      </p:sp>
      <p:sp>
        <p:nvSpPr>
          <p:cNvPr id="3" name="Content Placeholder 2"/>
          <p:cNvSpPr>
            <a:spLocks noGrp="1"/>
          </p:cNvSpPr>
          <p:nvPr>
            <p:ph idx="1"/>
          </p:nvPr>
        </p:nvSpPr>
        <p:spPr/>
        <p:txBody>
          <a:bodyPr/>
          <a:lstStyle/>
          <a:p>
            <a:pPr marL="0" indent="0">
              <a:buNone/>
            </a:pPr>
            <a:r>
              <a:rPr lang="en-US" dirty="0"/>
              <a:t>Several </a:t>
            </a:r>
            <a:r>
              <a:rPr lang="en-US" b="1" dirty="0"/>
              <a:t>data structures</a:t>
            </a:r>
            <a:r>
              <a:rPr lang="en-US" dirty="0"/>
              <a:t> are used to manage tasks efficiently in this application. A </a:t>
            </a:r>
            <a:r>
              <a:rPr lang="en-US" b="1" dirty="0"/>
              <a:t>Linked List</a:t>
            </a:r>
            <a:r>
              <a:rPr lang="en-US" dirty="0"/>
              <a:t> stores tasks dynamically, a </a:t>
            </a:r>
            <a:r>
              <a:rPr lang="en-US" b="1" dirty="0"/>
              <a:t>Queue</a:t>
            </a:r>
            <a:r>
              <a:rPr lang="en-US" dirty="0"/>
              <a:t> maintains the execution order, a </a:t>
            </a:r>
            <a:r>
              <a:rPr lang="en-US" b="1" dirty="0"/>
              <a:t>Stack</a:t>
            </a:r>
            <a:r>
              <a:rPr lang="en-US" dirty="0"/>
              <a:t> tracks completed tasks, and a </a:t>
            </a:r>
            <a:r>
              <a:rPr lang="en-US" b="1" dirty="0"/>
              <a:t>Priority Queue</a:t>
            </a:r>
            <a:r>
              <a:rPr lang="en-US" dirty="0"/>
              <a:t> organizes tasks based on priority.</a:t>
            </a:r>
          </a:p>
          <a:p>
            <a:pPr marL="0" indent="0">
              <a:buNone/>
            </a:pPr>
            <a:r>
              <a:rPr lang="en-US" dirty="0"/>
              <a:t>These structures help the system perform operations like </a:t>
            </a:r>
            <a:r>
              <a:rPr lang="en-US" b="1" dirty="0"/>
              <a:t>adding, displaying, prioritizing, and completing tasks</a:t>
            </a:r>
            <a:r>
              <a:rPr lang="en-US" dirty="0"/>
              <a:t>, demonstrating the practical use of data structures in web applications for better task management.</a:t>
            </a:r>
          </a:p>
        </p:txBody>
      </p:sp>
      <p:sp>
        <p:nvSpPr>
          <p:cNvPr id="4" name="Date Placeholder 3"/>
          <p:cNvSpPr>
            <a:spLocks noGrp="1"/>
          </p:cNvSpPr>
          <p:nvPr>
            <p:ph type="dt" sz="half" idx="10"/>
          </p:nvPr>
        </p:nvSpPr>
        <p:spPr/>
        <p:txBody>
          <a:bodyPr/>
          <a:lstStyle/>
          <a:p>
            <a:fld id="{9C5272DB-0103-AF4C-A22D-07421EC406AD}" type="datetime1">
              <a:rPr lang="en-IN" smtClean="0"/>
              <a:pPr/>
              <a:t>09-03-2026</a:t>
            </a:fld>
            <a:endParaRPr lang="en-US" dirty="0"/>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pPr/>
              <a:t>4</a:t>
            </a:fld>
            <a:endParaRPr lang="en-US"/>
          </a:p>
        </p:txBody>
      </p:sp>
      <p:sp>
        <p:nvSpPr>
          <p:cNvPr id="7" name="TextBox 6">
            <a:extLst>
              <a:ext uri="{FF2B5EF4-FFF2-40B4-BE49-F238E27FC236}">
                <a16:creationId xmlns:a16="http://schemas.microsoft.com/office/drawing/2014/main" id="{73E8E15F-0B5C-EF22-1223-10285BC9692F}"/>
              </a:ext>
            </a:extLst>
          </p:cNvPr>
          <p:cNvSpPr txBox="1"/>
          <p:nvPr/>
        </p:nvSpPr>
        <p:spPr>
          <a:xfrm>
            <a:off x="5392954" y="1456293"/>
            <a:ext cx="1406091" cy="369332"/>
          </a:xfrm>
          <a:prstGeom prst="rect">
            <a:avLst/>
          </a:prstGeom>
          <a:noFill/>
        </p:spPr>
        <p:txBody>
          <a:bodyPr wrap="none" rtlCol="0">
            <a:spAutoFit/>
          </a:bodyPr>
          <a:lstStyle/>
          <a:p>
            <a:r>
              <a:rPr lang="en-US" dirty="0"/>
              <a:t>PRAGRAPH:2</a:t>
            </a:r>
            <a:endParaRPr lang="en-IN" dirty="0"/>
          </a:p>
        </p:txBody>
      </p:sp>
      <p:pic>
        <p:nvPicPr>
          <p:cNvPr id="9" name="Picture 8">
            <a:extLst>
              <a:ext uri="{FF2B5EF4-FFF2-40B4-BE49-F238E27FC236}">
                <a16:creationId xmlns:a16="http://schemas.microsoft.com/office/drawing/2014/main" id="{F212FBD1-37B4-EB4D-5A99-72DB8C49F461}"/>
              </a:ext>
            </a:extLst>
          </p:cNvPr>
          <p:cNvPicPr>
            <a:picLocks noChangeAspect="1"/>
          </p:cNvPicPr>
          <p:nvPr/>
        </p:nvPicPr>
        <p:blipFill>
          <a:blip r:embed="rId2"/>
          <a:stretch>
            <a:fillRect/>
          </a:stretch>
        </p:blipFill>
        <p:spPr>
          <a:xfrm>
            <a:off x="41177" y="0"/>
            <a:ext cx="2133898" cy="9145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pPr/>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pPr/>
              <a:t>5</a:t>
            </a:fld>
            <a:endParaRPr lang="en-US"/>
          </a:p>
        </p:txBody>
      </p:sp>
      <p:sp>
        <p:nvSpPr>
          <p:cNvPr id="3" name="Content Placeholder 2">
            <a:extLst>
              <a:ext uri="{FF2B5EF4-FFF2-40B4-BE49-F238E27FC236}">
                <a16:creationId xmlns:a16="http://schemas.microsoft.com/office/drawing/2014/main" id="{0374B436-2472-7EDD-F405-3A6E5059D7E1}"/>
              </a:ext>
            </a:extLst>
          </p:cNvPr>
          <p:cNvSpPr>
            <a:spLocks noGrp="1" noChangeArrowheads="1"/>
          </p:cNvSpPr>
          <p:nvPr>
            <p:ph idx="1"/>
          </p:nvPr>
        </p:nvSpPr>
        <p:spPr bwMode="auto">
          <a:xfrm>
            <a:off x="1567035" y="2249088"/>
            <a:ext cx="9057929"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Most To-Do list applications allow users to </a:t>
            </a:r>
            <a:r>
              <a:rPr kumimoji="0" lang="en-US" altLang="en-US" sz="1800" b="1" i="0" u="none" strike="noStrike" cap="none" normalizeH="0" baseline="0" dirty="0">
                <a:ln>
                  <a:noFill/>
                </a:ln>
                <a:solidFill>
                  <a:schemeClr val="tx1"/>
                </a:solidFill>
                <a:effectLst/>
                <a:latin typeface="Arial" panose="020B0604020202020204" pitchFamily="34" charset="0"/>
              </a:rPr>
              <a:t>add, view, and delete tasks</a:t>
            </a:r>
            <a:r>
              <a:rPr kumimoji="0" lang="en-US" altLang="en-US" sz="1800" b="0" i="0" u="none" strike="noStrike" cap="none" normalizeH="0" baseline="0" dirty="0">
                <a:ln>
                  <a:noFill/>
                </a:ln>
                <a:solidFill>
                  <a:schemeClr val="tx1"/>
                </a:solidFill>
                <a:effectLst/>
                <a:latin typeface="Arial" panose="020B0604020202020204" pitchFamily="34" charset="0"/>
              </a:rPr>
              <a:t> only.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Tasks are usually stored using </a:t>
            </a:r>
            <a:r>
              <a:rPr kumimoji="0" lang="en-US" altLang="en-US" sz="1800" b="1" i="0" u="none" strike="noStrike" cap="none" normalizeH="0" baseline="0" dirty="0">
                <a:ln>
                  <a:noFill/>
                </a:ln>
                <a:solidFill>
                  <a:schemeClr val="tx1"/>
                </a:solidFill>
                <a:effectLst/>
                <a:latin typeface="Arial" panose="020B0604020202020204" pitchFamily="34" charset="0"/>
              </a:rPr>
              <a:t>simple lists or basic storage methods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systems </a:t>
            </a:r>
            <a:r>
              <a:rPr kumimoji="0" lang="en-US" altLang="en-US" sz="1800" b="1" i="0" u="none" strike="noStrike" cap="none" normalizeH="0" baseline="0" dirty="0">
                <a:ln>
                  <a:noFill/>
                </a:ln>
                <a:solidFill>
                  <a:schemeClr val="tx1"/>
                </a:solidFill>
                <a:effectLst/>
                <a:latin typeface="Arial" panose="020B0604020202020204" pitchFamily="34" charset="0"/>
              </a:rPr>
              <a:t>do not use advanced data structures</a:t>
            </a:r>
            <a:r>
              <a:rPr kumimoji="0" lang="en-US" altLang="en-US" sz="1800" b="0" i="0" u="none" strike="noStrike" cap="none" normalizeH="0" baseline="0" dirty="0">
                <a:ln>
                  <a:noFill/>
                </a:ln>
                <a:solidFill>
                  <a:schemeClr val="tx1"/>
                </a:solidFill>
                <a:effectLst/>
                <a:latin typeface="Arial" panose="020B0604020202020204" pitchFamily="34" charset="0"/>
              </a:rPr>
              <a:t> for efficient task management.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They often </a:t>
            </a:r>
            <a:r>
              <a:rPr kumimoji="0" lang="en-US" altLang="en-US" sz="1800" b="1" i="0" u="none" strike="noStrike" cap="none" normalizeH="0" baseline="0" dirty="0">
                <a:ln>
                  <a:noFill/>
                </a:ln>
                <a:solidFill>
                  <a:schemeClr val="tx1"/>
                </a:solidFill>
                <a:effectLst/>
                <a:latin typeface="Arial" panose="020B0604020202020204" pitchFamily="34" charset="0"/>
              </a:rPr>
              <a:t>lack proper task prioritization mechanisms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Workflow management is </a:t>
            </a:r>
            <a:r>
              <a:rPr kumimoji="0" lang="en-US" altLang="en-US" sz="1800" b="1" i="0" u="none" strike="noStrike" cap="none" normalizeH="0" baseline="0" dirty="0">
                <a:ln>
                  <a:noFill/>
                </a:ln>
                <a:solidFill>
                  <a:schemeClr val="tx1"/>
                </a:solidFill>
                <a:effectLst/>
                <a:latin typeface="Arial" panose="020B0604020202020204" pitchFamily="34" charset="0"/>
              </a:rPr>
              <a:t>not well structured</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As a result, </a:t>
            </a:r>
            <a:r>
              <a:rPr kumimoji="0" lang="en-US" altLang="en-US" sz="1800" b="1" i="0" u="none" strike="noStrike" cap="none" normalizeH="0" baseline="0" dirty="0">
                <a:ln>
                  <a:noFill/>
                </a:ln>
                <a:solidFill>
                  <a:schemeClr val="tx1"/>
                </a:solidFill>
                <a:effectLst/>
                <a:latin typeface="Arial" panose="020B0604020202020204" pitchFamily="34" charset="0"/>
              </a:rPr>
              <a:t>task processing and management remain basic and less efficient</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4" name="Picture 3">
            <a:extLst>
              <a:ext uri="{FF2B5EF4-FFF2-40B4-BE49-F238E27FC236}">
                <a16:creationId xmlns:a16="http://schemas.microsoft.com/office/drawing/2014/main" id="{65832243-F0FC-7F9D-A89A-A502545B49CD}"/>
              </a:ext>
            </a:extLst>
          </p:cNvPr>
          <p:cNvPicPr>
            <a:picLocks noChangeAspect="1"/>
          </p:cNvPicPr>
          <p:nvPr/>
        </p:nvPicPr>
        <p:blipFill>
          <a:blip r:embed="rId2"/>
          <a:stretch>
            <a:fillRect/>
          </a:stretch>
        </p:blipFill>
        <p:spPr>
          <a:xfrm>
            <a:off x="34725" y="0"/>
            <a:ext cx="2133898" cy="914528"/>
          </a:xfrm>
          <a:prstGeom prst="rect">
            <a:avLst/>
          </a:prstGeom>
        </p:spPr>
      </p:pic>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a:bodyPr>
          <a:lstStyle/>
          <a:p>
            <a:pPr marL="0" indent="0">
              <a:buNone/>
            </a:pPr>
            <a:r>
              <a:rPr lang="en-US" dirty="0"/>
              <a:t>The proposed system introduces a more structured approach to task management by integrating multiple data structures. A Linked List is used to store tasks dynamically, a Queue manages tasks in the order they are processed, a Priority Queue organizes tasks based on their priority levels, and a Stack keeps track of completed tasks. The application also includes a web-based interface developed using HTML, CSS, and JavaScript, making it interactive and user-friendly. This system demonstrates how data structures can be applied to improve task organization and management.</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pPr/>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pPr/>
              <a:t>6</a:t>
            </a:fld>
            <a:endParaRPr lang="en-US"/>
          </a:p>
        </p:txBody>
      </p:sp>
      <p:sp>
        <p:nvSpPr>
          <p:cNvPr id="10" name="Rectangle 9"/>
          <p:cNvSpPr/>
          <p:nvPr/>
        </p:nvSpPr>
        <p:spPr>
          <a:xfrm>
            <a:off x="3048000" y="1997839"/>
            <a:ext cx="6096000" cy="369332"/>
          </a:xfrm>
          <a:prstGeom prst="rect">
            <a:avLst/>
          </a:prstGeom>
        </p:spPr>
        <p:txBody>
          <a:bodyPr>
            <a:spAutoFit/>
          </a:bodyPr>
          <a:lstStyle/>
          <a:p>
            <a:r>
              <a:rPr lang="en-US" dirty="0"/>
              <a:t>.</a:t>
            </a:r>
          </a:p>
        </p:txBody>
      </p:sp>
      <p:pic>
        <p:nvPicPr>
          <p:cNvPr id="3" name="Picture 2">
            <a:extLst>
              <a:ext uri="{FF2B5EF4-FFF2-40B4-BE49-F238E27FC236}">
                <a16:creationId xmlns:a16="http://schemas.microsoft.com/office/drawing/2014/main" id="{B8122940-33C0-703C-703A-21899558C8FF}"/>
              </a:ext>
            </a:extLst>
          </p:cNvPr>
          <p:cNvPicPr>
            <a:picLocks noChangeAspect="1"/>
          </p:cNvPicPr>
          <p:nvPr/>
        </p:nvPicPr>
        <p:blipFill>
          <a:blip r:embed="rId2"/>
          <a:stretch>
            <a:fillRect/>
          </a:stretch>
        </p:blipFill>
        <p:spPr>
          <a:xfrm>
            <a:off x="0" y="32634"/>
            <a:ext cx="2133898" cy="914528"/>
          </a:xfrm>
          <a:prstGeom prst="rect">
            <a:avLst/>
          </a:prstGeom>
        </p:spPr>
      </p:pic>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a:xfrm>
            <a:off x="275771" y="1248229"/>
            <a:ext cx="12562115" cy="5108121"/>
          </a:xfrm>
        </p:spPr>
        <p:txBody>
          <a:bodyPr>
            <a:normAutofit fontScale="92500" lnSpcReduction="20000"/>
          </a:bodyPr>
          <a:lstStyle/>
          <a:p>
            <a:pPr marL="0" indent="0">
              <a:buNone/>
            </a:pPr>
            <a:r>
              <a:rPr lang="en-US" dirty="0"/>
              <a:t>1.User Interface (Frontend)</a:t>
            </a:r>
          </a:p>
          <a:p>
            <a:pPr lvl="1"/>
            <a:r>
              <a:rPr lang="en-US" dirty="0"/>
              <a:t>User interacts with the web page to add tasks, select priority, and mark tasks as completed.</a:t>
            </a:r>
          </a:p>
          <a:p>
            <a:pPr lvl="1"/>
            <a:r>
              <a:rPr lang="en-US" dirty="0"/>
              <a:t>Technologies used: HTML, CSS, JavaScript.</a:t>
            </a:r>
          </a:p>
          <a:p>
            <a:pPr marL="0" indent="0">
              <a:buNone/>
            </a:pPr>
            <a:r>
              <a:rPr lang="en-US" dirty="0"/>
              <a:t>2.Input Processing</a:t>
            </a:r>
          </a:p>
          <a:p>
            <a:pPr lvl="1"/>
            <a:r>
              <a:rPr lang="en-US" dirty="0"/>
              <a:t>The application receives the user’s task and priority through JavaScript functions.</a:t>
            </a:r>
          </a:p>
          <a:p>
            <a:pPr marL="0" indent="0">
              <a:buNone/>
            </a:pPr>
            <a:r>
              <a:rPr lang="en-US" dirty="0"/>
              <a:t>3.Data Structure Processing</a:t>
            </a:r>
          </a:p>
          <a:p>
            <a:pPr lvl="1"/>
            <a:r>
              <a:rPr lang="en-US" dirty="0"/>
              <a:t>Linked List stores tasks dynamically.</a:t>
            </a:r>
          </a:p>
          <a:p>
            <a:pPr lvl="1"/>
            <a:r>
              <a:rPr lang="en-US" dirty="0"/>
              <a:t>Queue manages tasks in the order they should be processed.</a:t>
            </a:r>
          </a:p>
          <a:p>
            <a:pPr lvl="1"/>
            <a:r>
              <a:rPr lang="en-US" dirty="0"/>
              <a:t>Priority Queue arranges tasks based on their priority.</a:t>
            </a:r>
          </a:p>
          <a:p>
            <a:pPr lvl="1"/>
            <a:r>
              <a:rPr lang="en-US" dirty="0"/>
              <a:t>Stack stores completed tasks.</a:t>
            </a:r>
          </a:p>
          <a:p>
            <a:pPr marL="0" indent="0">
              <a:buNone/>
            </a:pPr>
            <a:r>
              <a:rPr lang="en-US" dirty="0"/>
              <a:t>4.Task Management Logic</a:t>
            </a:r>
          </a:p>
          <a:p>
            <a:pPr lvl="1"/>
            <a:r>
              <a:rPr lang="en-US" dirty="0"/>
              <a:t>The system processes operations like adding tasks, organizing them by priority, and marking them as completed.</a:t>
            </a:r>
          </a:p>
          <a:p>
            <a:pPr marL="0" indent="0">
              <a:buNone/>
            </a:pPr>
            <a:r>
              <a:rPr lang="en-US" dirty="0"/>
              <a:t>5.Output / Display</a:t>
            </a:r>
          </a:p>
          <a:p>
            <a:pPr lvl="1"/>
            <a:r>
              <a:rPr lang="en-US" dirty="0"/>
              <a:t>The updated list of tasks and completed tasks is displayed back to the user on the web page.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pPr/>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pPr/>
              <a:t>7</a:t>
            </a:fld>
            <a:endParaRPr lang="en-US"/>
          </a:p>
        </p:txBody>
      </p:sp>
      <p:pic>
        <p:nvPicPr>
          <p:cNvPr id="3" name="Picture 2">
            <a:extLst>
              <a:ext uri="{FF2B5EF4-FFF2-40B4-BE49-F238E27FC236}">
                <a16:creationId xmlns:a16="http://schemas.microsoft.com/office/drawing/2014/main" id="{B3DD0860-EB6B-5EB4-0EB4-FDEA45B6A557}"/>
              </a:ext>
            </a:extLst>
          </p:cNvPr>
          <p:cNvPicPr>
            <a:picLocks noChangeAspect="1"/>
          </p:cNvPicPr>
          <p:nvPr/>
        </p:nvPicPr>
        <p:blipFill>
          <a:blip r:embed="rId2"/>
          <a:stretch>
            <a:fillRect/>
          </a:stretch>
        </p:blipFill>
        <p:spPr>
          <a:xfrm>
            <a:off x="75902" y="14601"/>
            <a:ext cx="2133898" cy="914528"/>
          </a:xfrm>
          <a:prstGeom prst="rect">
            <a:avLst/>
          </a:prstGeom>
        </p:spPr>
      </p:pic>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Autofit/>
          </a:bodyPr>
          <a:lstStyle/>
          <a:p>
            <a:r>
              <a:rPr lang="en-US" sz="1400" dirty="0"/>
              <a:t>User Interface Module</a:t>
            </a:r>
          </a:p>
          <a:p>
            <a:r>
              <a:rPr lang="en-US" sz="1400" dirty="0"/>
              <a:t>Displays the web page where users can enter tasks, choose priority, and view tasks. Built using HTML and CSS.</a:t>
            </a:r>
          </a:p>
          <a:p>
            <a:r>
              <a:rPr lang="en-US" sz="1400" dirty="0"/>
              <a:t>Input Handling Module</a:t>
            </a:r>
          </a:p>
          <a:p>
            <a:r>
              <a:rPr lang="en-US" sz="1400" dirty="0"/>
              <a:t>Takes user input (task name and priority) using input fields and buttons and processes it with JavaScript.</a:t>
            </a:r>
          </a:p>
          <a:p>
            <a:r>
              <a:rPr lang="en-US" sz="1400" dirty="0"/>
              <a:t>Task Management Module</a:t>
            </a:r>
          </a:p>
          <a:p>
            <a:r>
              <a:rPr lang="en-US" sz="1400" dirty="0"/>
              <a:t>Handles operations like adding tasks, displaying tasks, and completing tasks.</a:t>
            </a:r>
          </a:p>
          <a:p>
            <a:r>
              <a:rPr lang="en-US" sz="1400" dirty="0"/>
              <a:t>Priority Management Module</a:t>
            </a:r>
          </a:p>
          <a:p>
            <a:r>
              <a:rPr lang="en-US" sz="1400" dirty="0"/>
              <a:t>Uses a Priority Queue to arrange tasks according to their priority.</a:t>
            </a:r>
          </a:p>
          <a:p>
            <a:r>
              <a:rPr lang="en-US" sz="1400" dirty="0"/>
              <a:t>Task Processing Module</a:t>
            </a:r>
          </a:p>
          <a:p>
            <a:r>
              <a:rPr lang="en-US" sz="1400" dirty="0"/>
              <a:t>Uses a Queue to process tasks in the order they are added.</a:t>
            </a:r>
          </a:p>
          <a:p>
            <a:r>
              <a:rPr lang="en-US" sz="1400" dirty="0"/>
              <a:t>Completed Task Module</a:t>
            </a:r>
          </a:p>
          <a:p>
            <a:r>
              <a:rPr lang="en-US" sz="1400" dirty="0"/>
              <a:t>Uses a Stack to store tasks that are marked as completed.</a:t>
            </a:r>
          </a:p>
          <a:p>
            <a:r>
              <a:rPr lang="en-US" sz="1400" dirty="0"/>
              <a:t>Data Storage Module</a:t>
            </a:r>
          </a:p>
          <a:p>
            <a:r>
              <a:rPr lang="en-US" sz="1400" dirty="0"/>
              <a:t>Uses a Linked List to store and manage tasks dynamically.</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pPr/>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pPr/>
              <a:t>8</a:t>
            </a:fld>
            <a:endParaRPr lang="en-US"/>
          </a:p>
        </p:txBody>
      </p:sp>
      <p:pic>
        <p:nvPicPr>
          <p:cNvPr id="3" name="Picture 2">
            <a:extLst>
              <a:ext uri="{FF2B5EF4-FFF2-40B4-BE49-F238E27FC236}">
                <a16:creationId xmlns:a16="http://schemas.microsoft.com/office/drawing/2014/main" id="{05730AAE-37BB-7F50-C19B-4B0B0C078E15}"/>
              </a:ext>
            </a:extLst>
          </p:cNvPr>
          <p:cNvPicPr>
            <a:picLocks noChangeAspect="1"/>
          </p:cNvPicPr>
          <p:nvPr/>
        </p:nvPicPr>
        <p:blipFill>
          <a:blip r:embed="rId2"/>
          <a:stretch>
            <a:fillRect/>
          </a:stretch>
        </p:blipFill>
        <p:spPr>
          <a:xfrm>
            <a:off x="75902" y="32634"/>
            <a:ext cx="2133898" cy="914528"/>
          </a:xfrm>
          <a:prstGeom prst="rect">
            <a:avLst/>
          </a:prstGeom>
        </p:spPr>
      </p:pic>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p:txBody>
          <a:bodyPr>
            <a:normAutofit/>
          </a:bodyPr>
          <a:lstStyle/>
          <a:p>
            <a:pPr marL="0" indent="0">
              <a:buNone/>
            </a:pPr>
            <a:r>
              <a:rPr lang="en-US" dirty="0"/>
              <a:t>1.To develop a simple and user-friendly To-Do List web application for managing daily tasks.</a:t>
            </a:r>
          </a:p>
          <a:p>
            <a:pPr marL="0" indent="0">
              <a:buNone/>
            </a:pPr>
            <a:r>
              <a:rPr lang="en-US" dirty="0"/>
              <a:t>2.To implement Data Structures such as Linked List, Queue, Stack, and Priority Queue for efficient task management.</a:t>
            </a:r>
          </a:p>
          <a:p>
            <a:pPr marL="0" indent="0">
              <a:buNone/>
            </a:pPr>
            <a:r>
              <a:rPr lang="en-US" dirty="0"/>
              <a:t>3.To allow users to add, organize, and complete tasks based on priority.</a:t>
            </a:r>
          </a:p>
          <a:p>
            <a:pPr marL="0" indent="0">
              <a:buNone/>
            </a:pPr>
            <a:r>
              <a:rPr lang="en-US" dirty="0"/>
              <a:t>4.To demonstrate the practical application of data structures in a real-world web application.</a:t>
            </a:r>
          </a:p>
          <a:p>
            <a:pPr marL="0" indent="0">
              <a:buNone/>
            </a:pPr>
            <a:r>
              <a:rPr lang="en-US" dirty="0"/>
              <a:t>5.improve task organization and productivity through a structured task management system.</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pPr/>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pPr/>
              <a:t>9</a:t>
            </a:fld>
            <a:endParaRPr lang="en-US"/>
          </a:p>
        </p:txBody>
      </p:sp>
      <p:pic>
        <p:nvPicPr>
          <p:cNvPr id="3" name="Picture 2">
            <a:extLst>
              <a:ext uri="{FF2B5EF4-FFF2-40B4-BE49-F238E27FC236}">
                <a16:creationId xmlns:a16="http://schemas.microsoft.com/office/drawing/2014/main" id="{D627DC4A-62FF-24DB-ABC2-0F949654FA2D}"/>
              </a:ext>
            </a:extLst>
          </p:cNvPr>
          <p:cNvPicPr>
            <a:picLocks noChangeAspect="1"/>
          </p:cNvPicPr>
          <p:nvPr/>
        </p:nvPicPr>
        <p:blipFill>
          <a:blip r:embed="rId2"/>
          <a:stretch>
            <a:fillRect/>
          </a:stretch>
        </p:blipFill>
        <p:spPr>
          <a:xfrm>
            <a:off x="37469" y="58396"/>
            <a:ext cx="2133898" cy="914528"/>
          </a:xfrm>
          <a:prstGeom prst="rect">
            <a:avLst/>
          </a:prstGeom>
        </p:spPr>
      </p:pic>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normAutofit fontScale="90000"/>
          </a:bodyPr>
          <a:lstStyle/>
          <a:p>
            <a:pPr algn="just"/>
            <a:r>
              <a:rPr lang="en-US" b="1" dirty="0" err="1"/>
              <a:t>Co’sAttainments</a:t>
            </a:r>
            <a:r>
              <a:rPr lang="en-US" b="1" dirty="0"/>
              <a:t>–FWD</a:t>
            </a:r>
            <a:br>
              <a:rPr lang="en-US" b="1" dirty="0"/>
            </a:br>
            <a:r>
              <a:rPr lang="en-US" b="1" dirty="0"/>
              <a:t>CO1</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419878" y="1825625"/>
            <a:ext cx="9825135" cy="4351338"/>
          </a:xfrm>
        </p:spPr>
        <p:txBody>
          <a:bodyPr>
            <a:normAutofit/>
          </a:bodyPr>
          <a:lstStyle/>
          <a:p>
            <a:pPr marL="971550" lvl="1" indent="-514350" algn="just">
              <a:buNone/>
            </a:pPr>
            <a:r>
              <a:rPr lang="en-US" dirty="0"/>
              <a:t>               1.Internet Fundamentals – Web app runs in browser.</a:t>
            </a:r>
          </a:p>
          <a:p>
            <a:pPr marL="971550" lvl="1" indent="-514350" algn="just">
              <a:buNone/>
            </a:pPr>
            <a:r>
              <a:rPr lang="en-US" dirty="0"/>
              <a:t>               2.HTTP/HTTPS – Used to load the webpage.</a:t>
            </a:r>
          </a:p>
          <a:p>
            <a:pPr marL="971550" lvl="1" indent="-514350" algn="just">
              <a:buNone/>
            </a:pPr>
            <a:r>
              <a:rPr lang="en-US" dirty="0"/>
              <a:t>               3.Client–Server Architecture – Browser acts as client.</a:t>
            </a:r>
          </a:p>
          <a:p>
            <a:pPr marL="971550" lvl="1" indent="-514350" algn="just">
              <a:buNone/>
            </a:pPr>
            <a:r>
              <a:rPr lang="en-US" dirty="0"/>
              <a:t>               4. Browser Rendering – Browser displays HTML, CSS, JS.</a:t>
            </a:r>
          </a:p>
          <a:p>
            <a:pPr marL="971550" lvl="1" indent="-514350" algn="just">
              <a:buNone/>
            </a:pPr>
            <a:r>
              <a:rPr lang="en-US" dirty="0"/>
              <a:t>               5.HTML Structure – html, head, body.</a:t>
            </a:r>
          </a:p>
          <a:p>
            <a:pPr marL="971550" lvl="1" indent="-514350" algn="just">
              <a:buNone/>
            </a:pPr>
            <a:r>
              <a:rPr lang="en-US" dirty="0"/>
              <a:t>               6.  Lists – ul, li for tasks.</a:t>
            </a:r>
          </a:p>
          <a:p>
            <a:pPr marL="971550" lvl="1" indent="-514350" algn="just">
              <a:buNone/>
            </a:pPr>
            <a:r>
              <a:rPr lang="en-US" dirty="0"/>
              <a:t>               7. CSS Syntax – selector, property, value. </a:t>
            </a:r>
          </a:p>
          <a:p>
            <a:pPr marL="971550" lvl="1" indent="-514350" algn="just">
              <a:buNone/>
            </a:pPr>
            <a:r>
              <a:rPr lang="en-US" dirty="0"/>
              <a:t>               8. Selectors – element, .class, #id. </a:t>
            </a:r>
          </a:p>
          <a:p>
            <a:pPr marL="971550" lvl="1" indent="-514350" algn="just">
              <a:buNone/>
            </a:pPr>
            <a:r>
              <a:rPr lang="en-US" dirty="0"/>
              <a:t>               9.Typography – font-family. </a:t>
            </a:r>
          </a:p>
          <a:p>
            <a:pPr marL="971550" lvl="1" indent="-514350" algn="just">
              <a:buNone/>
            </a:pPr>
            <a:r>
              <a:rPr lang="en-US" dirty="0"/>
              <a:t>               10. Colors – background colors. </a:t>
            </a:r>
          </a:p>
          <a:p>
            <a:pPr marL="971550" lvl="1" indent="-514350" algn="just">
              <a:buNone/>
            </a:pPr>
            <a:r>
              <a:rPr lang="en-US" dirty="0"/>
              <a:t>               11. Spacing – margin, padding, border.</a:t>
            </a:r>
            <a:endParaRPr lang="en-IN"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pPr/>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pPr/>
              <a:t>10</a:t>
            </a:fld>
            <a:endParaRPr lang="en-US"/>
          </a:p>
        </p:txBody>
      </p:sp>
      <p:pic>
        <p:nvPicPr>
          <p:cNvPr id="12" name="Picture 11">
            <a:extLst>
              <a:ext uri="{FF2B5EF4-FFF2-40B4-BE49-F238E27FC236}">
                <a16:creationId xmlns:a16="http://schemas.microsoft.com/office/drawing/2014/main" id="{E5B50D47-5B57-56F7-D080-D4BBF834FA65}"/>
              </a:ext>
            </a:extLst>
          </p:cNvPr>
          <p:cNvPicPr>
            <a:picLocks noChangeAspect="1"/>
          </p:cNvPicPr>
          <p:nvPr/>
        </p:nvPicPr>
        <p:blipFill>
          <a:blip r:embed="rId2"/>
          <a:stretch>
            <a:fillRect/>
          </a:stretch>
        </p:blipFill>
        <p:spPr>
          <a:xfrm>
            <a:off x="75902" y="32634"/>
            <a:ext cx="2133898" cy="914528"/>
          </a:xfrm>
          <a:prstGeom prst="rect">
            <a:avLst/>
          </a:prstGeom>
        </p:spPr>
      </p:pic>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D03A3-A44F-A9F2-974D-532A2E121F8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8B7B380-CA83-7F19-F2AB-1E255F8BFB1D}"/>
              </a:ext>
            </a:extLst>
          </p:cNvPr>
          <p:cNvSpPr>
            <a:spLocks noGrp="1"/>
          </p:cNvSpPr>
          <p:nvPr>
            <p:ph type="title"/>
          </p:nvPr>
        </p:nvSpPr>
        <p:spPr>
          <a:xfrm>
            <a:off x="1180618" y="365125"/>
            <a:ext cx="10173182" cy="1128009"/>
          </a:xfrm>
        </p:spPr>
        <p:txBody>
          <a:bodyPr>
            <a:normAutofit fontScale="90000"/>
          </a:bodyPr>
          <a:lstStyle/>
          <a:p>
            <a:pPr algn="just"/>
            <a:r>
              <a:rPr lang="en-US" b="1" dirty="0" err="1"/>
              <a:t>Co’sAttainments</a:t>
            </a:r>
            <a:r>
              <a:rPr lang="en-US" b="1" dirty="0"/>
              <a:t>–FWD</a:t>
            </a:r>
            <a:br>
              <a:rPr lang="en-US" b="1" dirty="0"/>
            </a:br>
            <a:endParaRPr lang="en-US" b="1" dirty="0"/>
          </a:p>
        </p:txBody>
      </p:sp>
      <p:pic>
        <p:nvPicPr>
          <p:cNvPr id="10" name="Content Placeholder 9">
            <a:extLst>
              <a:ext uri="{FF2B5EF4-FFF2-40B4-BE49-F238E27FC236}">
                <a16:creationId xmlns:a16="http://schemas.microsoft.com/office/drawing/2014/main" id="{EA4840F9-7345-96B8-4517-B6DB4F8AC394}"/>
              </a:ext>
            </a:extLst>
          </p:cNvPr>
          <p:cNvPicPr>
            <a:picLocks noGrp="1" noChangeAspect="1"/>
          </p:cNvPicPr>
          <p:nvPr>
            <p:ph idx="1"/>
          </p:nvPr>
        </p:nvPicPr>
        <p:blipFill>
          <a:blip r:embed="rId2"/>
          <a:stretch>
            <a:fillRect/>
          </a:stretch>
        </p:blipFill>
        <p:spPr>
          <a:xfrm>
            <a:off x="597159" y="943245"/>
            <a:ext cx="10963470" cy="5414685"/>
          </a:xfrm>
          <a:prstGeom prst="rect">
            <a:avLst/>
          </a:prstGeom>
        </p:spPr>
      </p:pic>
      <p:sp>
        <p:nvSpPr>
          <p:cNvPr id="5" name="Date Placeholder 4">
            <a:extLst>
              <a:ext uri="{FF2B5EF4-FFF2-40B4-BE49-F238E27FC236}">
                <a16:creationId xmlns:a16="http://schemas.microsoft.com/office/drawing/2014/main" id="{8125F956-16AD-6DF6-C4FC-AEE50DF053A3}"/>
              </a:ext>
            </a:extLst>
          </p:cNvPr>
          <p:cNvSpPr>
            <a:spLocks noGrp="1"/>
          </p:cNvSpPr>
          <p:nvPr>
            <p:ph type="dt" sz="half" idx="10"/>
          </p:nvPr>
        </p:nvSpPr>
        <p:spPr/>
        <p:txBody>
          <a:bodyPr/>
          <a:lstStyle/>
          <a:p>
            <a:fld id="{20A639D7-EAE1-7C4A-AC63-30DD6B16DE20}" type="datetime1">
              <a:rPr lang="en-IN" smtClean="0"/>
              <a:pPr/>
              <a:t>09-03-2026</a:t>
            </a:fld>
            <a:endParaRPr lang="en-US"/>
          </a:p>
        </p:txBody>
      </p:sp>
      <p:sp>
        <p:nvSpPr>
          <p:cNvPr id="6" name="Footer Placeholder 5">
            <a:extLst>
              <a:ext uri="{FF2B5EF4-FFF2-40B4-BE49-F238E27FC236}">
                <a16:creationId xmlns:a16="http://schemas.microsoft.com/office/drawing/2014/main" id="{41EAF022-C79D-372C-D102-609317D52C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B1CBC434-242E-C383-0B99-823EEB756382}"/>
              </a:ext>
            </a:extLst>
          </p:cNvPr>
          <p:cNvSpPr>
            <a:spLocks noGrp="1"/>
          </p:cNvSpPr>
          <p:nvPr>
            <p:ph type="sldNum" sz="quarter" idx="12"/>
          </p:nvPr>
        </p:nvSpPr>
        <p:spPr/>
        <p:txBody>
          <a:bodyPr/>
          <a:lstStyle/>
          <a:p>
            <a:fld id="{B961B71F-4B40-8942-BB88-E0F5C0B46E10}" type="slidenum">
              <a:rPr lang="en-US" smtClean="0"/>
              <a:pPr/>
              <a:t>11</a:t>
            </a:fld>
            <a:endParaRPr lang="en-US"/>
          </a:p>
        </p:txBody>
      </p:sp>
      <p:sp>
        <p:nvSpPr>
          <p:cNvPr id="2" name="AutoShape 2">
            <a:extLst>
              <a:ext uri="{FF2B5EF4-FFF2-40B4-BE49-F238E27FC236}">
                <a16:creationId xmlns:a16="http://schemas.microsoft.com/office/drawing/2014/main" id="{0287CE13-C86F-F3DB-038F-0FE8148E8D9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9B66A025-72EE-5827-B631-05514CDF4F0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8C732875-C1BC-E383-C03F-A64DA683A42B}"/>
              </a:ext>
            </a:extLst>
          </p:cNvPr>
          <p:cNvPicPr>
            <a:picLocks noChangeAspect="1"/>
          </p:cNvPicPr>
          <p:nvPr/>
        </p:nvPicPr>
        <p:blipFill>
          <a:blip r:embed="rId3"/>
          <a:stretch>
            <a:fillRect/>
          </a:stretch>
        </p:blipFill>
        <p:spPr>
          <a:xfrm>
            <a:off x="75902" y="14601"/>
            <a:ext cx="2133898" cy="914528"/>
          </a:xfrm>
          <a:prstGeom prst="rect">
            <a:avLst/>
          </a:prstGeom>
        </p:spPr>
      </p:pic>
    </p:spTree>
    <p:extLst>
      <p:ext uri="{BB962C8B-B14F-4D97-AF65-F5344CB8AC3E}">
        <p14:creationId xmlns:p14="http://schemas.microsoft.com/office/powerpoint/2010/main" val="905254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4025"/>
            <a:ext cx="10515600" cy="1325563"/>
          </a:xfrm>
        </p:spPr>
        <p:txBody>
          <a:bodyPr/>
          <a:lstStyle/>
          <a:p>
            <a:r>
              <a:rPr lang="en-US" b="1" dirty="0"/>
              <a:t>CO2:</a:t>
            </a:r>
          </a:p>
        </p:txBody>
      </p:sp>
      <p:sp>
        <p:nvSpPr>
          <p:cNvPr id="4" name="Date Placeholder 3"/>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pPr/>
              <a:t>12</a:t>
            </a:fld>
            <a:endParaRPr lang="en-US"/>
          </a:p>
        </p:txBody>
      </p:sp>
      <p:sp>
        <p:nvSpPr>
          <p:cNvPr id="7" name="Content Placeholder 6"/>
          <p:cNvSpPr>
            <a:spLocks noGrp="1"/>
          </p:cNvSpPr>
          <p:nvPr>
            <p:ph idx="1"/>
          </p:nvPr>
        </p:nvSpPr>
        <p:spPr/>
        <p:txBody>
          <a:bodyPr>
            <a:normAutofit fontScale="92500"/>
          </a:bodyPr>
          <a:lstStyle/>
          <a:p>
            <a:pPr marL="514350" indent="-514350">
              <a:buFont typeface="+mj-lt"/>
              <a:buAutoNum type="arabicPeriod"/>
            </a:pPr>
            <a:r>
              <a:rPr lang="en-US" dirty="0"/>
              <a:t>Forms &amp; Input Handling </a:t>
            </a:r>
          </a:p>
          <a:p>
            <a:pPr marL="514350" indent="-514350">
              <a:buFont typeface="+mj-lt"/>
              <a:buAutoNum type="arabicPeriod"/>
            </a:pPr>
            <a:r>
              <a:rPr lang="en-US" dirty="0"/>
              <a:t>Form elements  → input, select, button</a:t>
            </a:r>
          </a:p>
          <a:p>
            <a:pPr marL="514350" indent="-514350">
              <a:buFont typeface="+mj-lt"/>
              <a:buAutoNum type="arabicPeriod"/>
            </a:pPr>
            <a:r>
              <a:rPr lang="en-US" dirty="0"/>
              <a:t>Input types  → text2. </a:t>
            </a:r>
          </a:p>
          <a:p>
            <a:pPr marL="514350" indent="-514350">
              <a:buFont typeface="+mj-lt"/>
              <a:buAutoNum type="arabicPeriod"/>
            </a:pPr>
            <a:r>
              <a:rPr lang="en-US" dirty="0"/>
              <a:t>Semantic &amp; Structured Content</a:t>
            </a:r>
          </a:p>
          <a:p>
            <a:pPr marL="514350" indent="-514350">
              <a:buFont typeface="+mj-lt"/>
              <a:buAutoNum type="arabicPeriod"/>
            </a:pPr>
            <a:r>
              <a:rPr lang="en-US" dirty="0"/>
              <a:t>Basic structured tags → h2, div3. </a:t>
            </a:r>
          </a:p>
          <a:p>
            <a:pPr marL="514350" indent="-514350">
              <a:buFont typeface="+mj-lt"/>
              <a:buAutoNum type="arabicPeriod"/>
            </a:pPr>
            <a:r>
              <a:rPr lang="en-US" dirty="0"/>
              <a:t>Comprehensive CSS Layout &amp; Styling</a:t>
            </a:r>
          </a:p>
          <a:p>
            <a:pPr marL="514350" indent="-514350">
              <a:buFont typeface="+mj-lt"/>
              <a:buAutoNum type="arabicPeriod"/>
            </a:pPr>
            <a:r>
              <a:rPr lang="en-US" dirty="0"/>
              <a:t>Typography  → font-family</a:t>
            </a:r>
          </a:p>
          <a:p>
            <a:pPr marL="514350" indent="-514350">
              <a:buFont typeface="+mj-lt"/>
              <a:buAutoNum type="arabicPeriod"/>
            </a:pPr>
            <a:r>
              <a:rPr lang="en-US" dirty="0"/>
              <a:t>Block layout  → display behavior of elements</a:t>
            </a:r>
          </a:p>
          <a:p>
            <a:pPr marL="514350" indent="-514350">
              <a:buFont typeface="+mj-lt"/>
              <a:buAutoNum type="arabicPeriod"/>
            </a:pPr>
            <a:r>
              <a:rPr lang="en-US" dirty="0"/>
              <a:t>Basic spacing and layout styling  → margin, padding, container layout</a:t>
            </a:r>
          </a:p>
          <a:p>
            <a:pPr marL="514350" indent="-514350">
              <a:buFont typeface="+mj-lt"/>
              <a:buAutoNum type="arabicPeriod"/>
            </a:pPr>
            <a:endParaRPr lang="en-US" dirty="0"/>
          </a:p>
          <a:p>
            <a:endParaRPr lang="en-US" dirty="0"/>
          </a:p>
          <a:p>
            <a:endParaRPr lang="en-US" dirty="0"/>
          </a:p>
          <a:p>
            <a:endParaRPr lang="en-US" dirty="0"/>
          </a:p>
        </p:txBody>
      </p:sp>
      <p:pic>
        <p:nvPicPr>
          <p:cNvPr id="8" name="Picture 7">
            <a:extLst>
              <a:ext uri="{FF2B5EF4-FFF2-40B4-BE49-F238E27FC236}">
                <a16:creationId xmlns:a16="http://schemas.microsoft.com/office/drawing/2014/main" id="{D8742197-711F-1C80-A5F2-A4D73E5D1ED8}"/>
              </a:ext>
            </a:extLst>
          </p:cNvPr>
          <p:cNvPicPr>
            <a:picLocks noChangeAspect="1"/>
          </p:cNvPicPr>
          <p:nvPr/>
        </p:nvPicPr>
        <p:blipFill>
          <a:blip r:embed="rId2"/>
          <a:stretch>
            <a:fillRect/>
          </a:stretch>
        </p:blipFill>
        <p:spPr>
          <a:xfrm>
            <a:off x="75902" y="0"/>
            <a:ext cx="2133898" cy="9145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41F95-FBCA-8D40-EF42-E969C0091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A04A8-81F2-0E2E-35C7-9A7CF85575CA}"/>
              </a:ext>
            </a:extLst>
          </p:cNvPr>
          <p:cNvSpPr>
            <a:spLocks noGrp="1"/>
          </p:cNvSpPr>
          <p:nvPr>
            <p:ph type="title"/>
          </p:nvPr>
        </p:nvSpPr>
        <p:spPr>
          <a:xfrm>
            <a:off x="-423440" y="-1332691"/>
            <a:ext cx="9922934" cy="1196166"/>
          </a:xfrm>
        </p:spPr>
        <p:txBody>
          <a:bodyPr/>
          <a:lstStyle/>
          <a:p>
            <a:endParaRPr lang="en-US" b="1" dirty="0"/>
          </a:p>
        </p:txBody>
      </p:sp>
      <p:sp>
        <p:nvSpPr>
          <p:cNvPr id="4" name="Date Placeholder 3">
            <a:extLst>
              <a:ext uri="{FF2B5EF4-FFF2-40B4-BE49-F238E27FC236}">
                <a16:creationId xmlns:a16="http://schemas.microsoft.com/office/drawing/2014/main" id="{DA2F4382-CB68-C207-DA54-5D039C672C83}"/>
              </a:ext>
            </a:extLst>
          </p:cNvPr>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a:extLst>
              <a:ext uri="{FF2B5EF4-FFF2-40B4-BE49-F238E27FC236}">
                <a16:creationId xmlns:a16="http://schemas.microsoft.com/office/drawing/2014/main" id="{9596E863-D5B5-BCE4-7809-02DBCCE2F29A}"/>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F0808B90-420C-E285-DA0F-91383CF499BF}"/>
              </a:ext>
            </a:extLst>
          </p:cNvPr>
          <p:cNvSpPr>
            <a:spLocks noGrp="1"/>
          </p:cNvSpPr>
          <p:nvPr>
            <p:ph type="sldNum" sz="quarter" idx="12"/>
          </p:nvPr>
        </p:nvSpPr>
        <p:spPr/>
        <p:txBody>
          <a:bodyPr/>
          <a:lstStyle/>
          <a:p>
            <a:fld id="{B961B71F-4B40-8942-BB88-E0F5C0B46E10}" type="slidenum">
              <a:rPr lang="en-US" smtClean="0"/>
              <a:pPr/>
              <a:t>13</a:t>
            </a:fld>
            <a:endParaRPr lang="en-US"/>
          </a:p>
        </p:txBody>
      </p:sp>
      <p:pic>
        <p:nvPicPr>
          <p:cNvPr id="8" name="Picture 7">
            <a:extLst>
              <a:ext uri="{FF2B5EF4-FFF2-40B4-BE49-F238E27FC236}">
                <a16:creationId xmlns:a16="http://schemas.microsoft.com/office/drawing/2014/main" id="{706004CF-EBA0-BBFB-5322-233D4C5189BF}"/>
              </a:ext>
            </a:extLst>
          </p:cNvPr>
          <p:cNvPicPr>
            <a:picLocks noChangeAspect="1"/>
          </p:cNvPicPr>
          <p:nvPr/>
        </p:nvPicPr>
        <p:blipFill>
          <a:blip r:embed="rId2"/>
          <a:stretch>
            <a:fillRect/>
          </a:stretch>
        </p:blipFill>
        <p:spPr>
          <a:xfrm>
            <a:off x="3084137" y="0"/>
            <a:ext cx="6497859" cy="6858000"/>
          </a:xfrm>
          <a:prstGeom prst="rect">
            <a:avLst/>
          </a:prstGeom>
        </p:spPr>
      </p:pic>
      <p:sp>
        <p:nvSpPr>
          <p:cNvPr id="10" name="Content Placeholder 9">
            <a:extLst>
              <a:ext uri="{FF2B5EF4-FFF2-40B4-BE49-F238E27FC236}">
                <a16:creationId xmlns:a16="http://schemas.microsoft.com/office/drawing/2014/main" id="{5D46E5C5-FFD1-C5A1-C1C2-00E66721E051}"/>
              </a:ext>
            </a:extLst>
          </p:cNvPr>
          <p:cNvSpPr>
            <a:spLocks noGrp="1"/>
          </p:cNvSpPr>
          <p:nvPr>
            <p:ph idx="1"/>
          </p:nvPr>
        </p:nvSpPr>
        <p:spPr>
          <a:xfrm>
            <a:off x="245534" y="-4386063"/>
            <a:ext cx="10515600" cy="4351338"/>
          </a:xfrm>
        </p:spPr>
        <p:txBody>
          <a:bodyPr/>
          <a:lstStyle/>
          <a:p>
            <a:endParaRPr lang="en-IN" dirty="0"/>
          </a:p>
        </p:txBody>
      </p:sp>
      <p:pic>
        <p:nvPicPr>
          <p:cNvPr id="12" name="Picture 11">
            <a:extLst>
              <a:ext uri="{FF2B5EF4-FFF2-40B4-BE49-F238E27FC236}">
                <a16:creationId xmlns:a16="http://schemas.microsoft.com/office/drawing/2014/main" id="{49245865-6C49-84CB-83AC-69ABF3854D4C}"/>
              </a:ext>
            </a:extLst>
          </p:cNvPr>
          <p:cNvPicPr>
            <a:picLocks noChangeAspect="1"/>
          </p:cNvPicPr>
          <p:nvPr/>
        </p:nvPicPr>
        <p:blipFill>
          <a:blip r:embed="rId3"/>
          <a:stretch>
            <a:fillRect/>
          </a:stretch>
        </p:blipFill>
        <p:spPr>
          <a:xfrm>
            <a:off x="0" y="0"/>
            <a:ext cx="2133898" cy="914528"/>
          </a:xfrm>
          <a:prstGeom prst="rect">
            <a:avLst/>
          </a:prstGeom>
        </p:spPr>
      </p:pic>
    </p:spTree>
    <p:extLst>
      <p:ext uri="{BB962C8B-B14F-4D97-AF65-F5344CB8AC3E}">
        <p14:creationId xmlns:p14="http://schemas.microsoft.com/office/powerpoint/2010/main" val="2425148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0792"/>
            <a:ext cx="10515600" cy="1325563"/>
          </a:xfrm>
        </p:spPr>
        <p:txBody>
          <a:bodyPr/>
          <a:lstStyle/>
          <a:p>
            <a:r>
              <a:rPr lang="en-US" b="1" dirty="0"/>
              <a:t>CO3:</a:t>
            </a:r>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dirty="0"/>
              <a:t>JavaScript Fundamentals</a:t>
            </a:r>
          </a:p>
          <a:p>
            <a:pPr marL="514350" indent="-514350">
              <a:buFont typeface="+mj-lt"/>
              <a:buAutoNum type="arabicPeriod"/>
            </a:pPr>
            <a:r>
              <a:rPr lang="en-US" dirty="0"/>
              <a:t>Basic operators  → = assignment operator</a:t>
            </a:r>
          </a:p>
          <a:p>
            <a:pPr marL="514350" indent="-514350">
              <a:buFont typeface="+mj-lt"/>
              <a:buAutoNum type="arabicPeriod"/>
            </a:pPr>
            <a:r>
              <a:rPr lang="en-US" dirty="0"/>
              <a:t>Conditions  → if condition</a:t>
            </a:r>
          </a:p>
          <a:p>
            <a:pPr marL="514350" indent="-514350">
              <a:buFont typeface="+mj-lt"/>
              <a:buAutoNum type="arabicPeriod"/>
            </a:pPr>
            <a:r>
              <a:rPr lang="en-US" dirty="0"/>
              <a:t>Functions  → functions like </a:t>
            </a:r>
            <a:r>
              <a:rPr lang="en-US" dirty="0" err="1"/>
              <a:t>addTask</a:t>
            </a:r>
            <a:r>
              <a:rPr lang="en-US" dirty="0"/>
              <a:t>(), </a:t>
            </a:r>
            <a:r>
              <a:rPr lang="en-US" dirty="0" err="1"/>
              <a:t>completeTask</a:t>
            </a:r>
            <a:r>
              <a:rPr lang="en-US" dirty="0"/>
              <a:t>(), display()</a:t>
            </a:r>
          </a:p>
          <a:p>
            <a:pPr marL="514350" indent="-514350">
              <a:buFont typeface="+mj-lt"/>
              <a:buAutoNum type="arabicPeriod"/>
            </a:pPr>
            <a:r>
              <a:rPr lang="en-US" dirty="0"/>
              <a:t>Parameters  → used in constructors and methods</a:t>
            </a:r>
          </a:p>
          <a:p>
            <a:pPr marL="514350" indent="-514350">
              <a:buFont typeface="+mj-lt"/>
              <a:buAutoNum type="arabicPeriod"/>
            </a:pPr>
            <a:r>
              <a:rPr lang="en-US" dirty="0"/>
              <a:t>Objects &amp; Arrays</a:t>
            </a:r>
          </a:p>
          <a:p>
            <a:pPr marL="514350" indent="-514350">
              <a:buFont typeface="+mj-lt"/>
              <a:buAutoNum type="arabicPeriod"/>
            </a:pPr>
            <a:r>
              <a:rPr lang="en-US" dirty="0"/>
              <a:t>Objects  → task objects {task, priority}</a:t>
            </a:r>
          </a:p>
          <a:p>
            <a:pPr marL="514350" indent="-514350">
              <a:buFont typeface="+mj-lt"/>
              <a:buAutoNum type="arabicPeriod"/>
            </a:pPr>
            <a:r>
              <a:rPr lang="en-US" dirty="0"/>
              <a:t>Classes (Object inheritance concept)  → class Node, class </a:t>
            </a:r>
            <a:r>
              <a:rPr lang="en-US" dirty="0" err="1"/>
              <a:t>LinkedList</a:t>
            </a:r>
            <a:r>
              <a:rPr lang="en-US" dirty="0"/>
              <a:t>, class Queue, class Stack, class </a:t>
            </a:r>
            <a:r>
              <a:rPr lang="en-US" dirty="0" err="1"/>
              <a:t>PriorityQueue</a:t>
            </a:r>
            <a:r>
              <a:rPr lang="en-US" dirty="0"/>
              <a:t> </a:t>
            </a:r>
          </a:p>
          <a:p>
            <a:pPr marL="514350" indent="-514350">
              <a:buFont typeface="+mj-lt"/>
              <a:buAutoNum type="arabicPeriod"/>
            </a:pPr>
            <a:r>
              <a:rPr lang="en-US" dirty="0"/>
              <a:t>Arrays  → used in stack, queue, and priority queue storage</a:t>
            </a:r>
          </a:p>
        </p:txBody>
      </p:sp>
      <p:sp>
        <p:nvSpPr>
          <p:cNvPr id="4" name="Date Placeholder 3"/>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pPr/>
              <a:t>14</a:t>
            </a:fld>
            <a:endParaRPr lang="en-US"/>
          </a:p>
        </p:txBody>
      </p:sp>
      <p:pic>
        <p:nvPicPr>
          <p:cNvPr id="8" name="Picture 7">
            <a:extLst>
              <a:ext uri="{FF2B5EF4-FFF2-40B4-BE49-F238E27FC236}">
                <a16:creationId xmlns:a16="http://schemas.microsoft.com/office/drawing/2014/main" id="{87E05BB6-EEC4-1BDF-B961-F1C6E3F22243}"/>
              </a:ext>
            </a:extLst>
          </p:cNvPr>
          <p:cNvPicPr>
            <a:picLocks noChangeAspect="1"/>
          </p:cNvPicPr>
          <p:nvPr/>
        </p:nvPicPr>
        <p:blipFill>
          <a:blip r:embed="rId2"/>
          <a:stretch>
            <a:fillRect/>
          </a:stretch>
        </p:blipFill>
        <p:spPr>
          <a:xfrm>
            <a:off x="75902" y="0"/>
            <a:ext cx="2133898" cy="9145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A2515-631A-FD48-FCA9-B3CACC68E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CD2181-AC90-5D0A-DA91-B85951849965}"/>
              </a:ext>
            </a:extLst>
          </p:cNvPr>
          <p:cNvSpPr>
            <a:spLocks noGrp="1"/>
          </p:cNvSpPr>
          <p:nvPr>
            <p:ph type="title"/>
          </p:nvPr>
        </p:nvSpPr>
        <p:spPr/>
        <p:txBody>
          <a:bodyPr/>
          <a:lstStyle/>
          <a:p>
            <a:r>
              <a:rPr lang="en-US" b="1" dirty="0"/>
              <a:t>CO3:</a:t>
            </a:r>
          </a:p>
        </p:txBody>
      </p:sp>
      <p:sp>
        <p:nvSpPr>
          <p:cNvPr id="3" name="Content Placeholder 2">
            <a:extLst>
              <a:ext uri="{FF2B5EF4-FFF2-40B4-BE49-F238E27FC236}">
                <a16:creationId xmlns:a16="http://schemas.microsoft.com/office/drawing/2014/main" id="{DFE26FC1-BB57-43EE-5160-2B785BE510EC}"/>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JavaScript Fundamentals</a:t>
            </a:r>
          </a:p>
          <a:p>
            <a:pPr marL="514350" indent="-514350">
              <a:buFont typeface="+mj-lt"/>
              <a:buAutoNum type="arabicPeriod"/>
            </a:pPr>
            <a:r>
              <a:rPr lang="en-US" dirty="0"/>
              <a:t>Basic operators  → = assignment operator</a:t>
            </a:r>
          </a:p>
          <a:p>
            <a:pPr marL="514350" indent="-514350">
              <a:buFont typeface="+mj-lt"/>
              <a:buAutoNum type="arabicPeriod"/>
            </a:pPr>
            <a:r>
              <a:rPr lang="en-US" dirty="0"/>
              <a:t>Conditions  → if condition</a:t>
            </a:r>
          </a:p>
          <a:p>
            <a:pPr marL="514350" indent="-514350">
              <a:buFont typeface="+mj-lt"/>
              <a:buAutoNum type="arabicPeriod"/>
            </a:pPr>
            <a:r>
              <a:rPr lang="en-US" dirty="0"/>
              <a:t>Functions  → functions like </a:t>
            </a:r>
            <a:r>
              <a:rPr lang="en-US" dirty="0" err="1"/>
              <a:t>addTask</a:t>
            </a:r>
            <a:r>
              <a:rPr lang="en-US" dirty="0"/>
              <a:t>(), </a:t>
            </a:r>
            <a:r>
              <a:rPr lang="en-US" dirty="0" err="1"/>
              <a:t>completeTask</a:t>
            </a:r>
            <a:r>
              <a:rPr lang="en-US" dirty="0"/>
              <a:t>(), display()</a:t>
            </a:r>
          </a:p>
          <a:p>
            <a:pPr marL="514350" indent="-514350">
              <a:buFont typeface="+mj-lt"/>
              <a:buAutoNum type="arabicPeriod"/>
            </a:pPr>
            <a:r>
              <a:rPr lang="en-US" dirty="0"/>
              <a:t>Parameters  → used in constructors and methods</a:t>
            </a:r>
          </a:p>
          <a:p>
            <a:pPr marL="514350" indent="-514350">
              <a:buFont typeface="+mj-lt"/>
              <a:buAutoNum type="arabicPeriod"/>
            </a:pPr>
            <a:r>
              <a:rPr lang="en-US" dirty="0"/>
              <a:t>Objects &amp; Arrays</a:t>
            </a:r>
          </a:p>
          <a:p>
            <a:pPr marL="514350" indent="-514350">
              <a:buFont typeface="+mj-lt"/>
              <a:buAutoNum type="arabicPeriod"/>
            </a:pPr>
            <a:r>
              <a:rPr lang="en-US" dirty="0"/>
              <a:t>Objects  → task objects {task, priority}</a:t>
            </a:r>
          </a:p>
          <a:p>
            <a:pPr marL="514350" indent="-514350">
              <a:buFont typeface="+mj-lt"/>
              <a:buAutoNum type="arabicPeriod"/>
            </a:pPr>
            <a:r>
              <a:rPr lang="en-US" dirty="0"/>
              <a:t>Classes (Object inheritance concept)  → class Node, class </a:t>
            </a:r>
            <a:r>
              <a:rPr lang="en-US" dirty="0" err="1"/>
              <a:t>LinkedList</a:t>
            </a:r>
            <a:r>
              <a:rPr lang="en-US" dirty="0"/>
              <a:t>, class Queue, class Stack, class </a:t>
            </a:r>
            <a:r>
              <a:rPr lang="en-US" dirty="0" err="1"/>
              <a:t>PriorityQueue</a:t>
            </a:r>
            <a:r>
              <a:rPr lang="en-US" dirty="0"/>
              <a:t> </a:t>
            </a:r>
          </a:p>
          <a:p>
            <a:pPr marL="514350" indent="-514350">
              <a:buFont typeface="+mj-lt"/>
              <a:buAutoNum type="arabicPeriod"/>
            </a:pPr>
            <a:r>
              <a:rPr lang="en-US" dirty="0"/>
              <a:t>Arrays  → used in stack, queue, and priority queue storage</a:t>
            </a:r>
          </a:p>
        </p:txBody>
      </p:sp>
      <p:sp>
        <p:nvSpPr>
          <p:cNvPr id="4" name="Date Placeholder 3">
            <a:extLst>
              <a:ext uri="{FF2B5EF4-FFF2-40B4-BE49-F238E27FC236}">
                <a16:creationId xmlns:a16="http://schemas.microsoft.com/office/drawing/2014/main" id="{2FFDF01C-C3EB-D3E1-09DF-95B7C09423C3}"/>
              </a:ext>
            </a:extLst>
          </p:cNvPr>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a:extLst>
              <a:ext uri="{FF2B5EF4-FFF2-40B4-BE49-F238E27FC236}">
                <a16:creationId xmlns:a16="http://schemas.microsoft.com/office/drawing/2014/main" id="{848963BE-FD9E-AE7B-F84B-7F84523212FD}"/>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FCD438FB-4DDE-E0D3-50BF-76A8A44A99D6}"/>
              </a:ext>
            </a:extLst>
          </p:cNvPr>
          <p:cNvSpPr>
            <a:spLocks noGrp="1"/>
          </p:cNvSpPr>
          <p:nvPr>
            <p:ph type="sldNum" sz="quarter" idx="12"/>
          </p:nvPr>
        </p:nvSpPr>
        <p:spPr/>
        <p:txBody>
          <a:bodyPr/>
          <a:lstStyle/>
          <a:p>
            <a:fld id="{B961B71F-4B40-8942-BB88-E0F5C0B46E10}" type="slidenum">
              <a:rPr lang="en-US" smtClean="0"/>
              <a:pPr/>
              <a:t>15</a:t>
            </a:fld>
            <a:endParaRPr lang="en-US"/>
          </a:p>
        </p:txBody>
      </p:sp>
      <p:pic>
        <p:nvPicPr>
          <p:cNvPr id="8" name="Picture 7">
            <a:extLst>
              <a:ext uri="{FF2B5EF4-FFF2-40B4-BE49-F238E27FC236}">
                <a16:creationId xmlns:a16="http://schemas.microsoft.com/office/drawing/2014/main" id="{93B14270-B04B-9309-C9A8-1B31D99B3F7F}"/>
              </a:ext>
            </a:extLst>
          </p:cNvPr>
          <p:cNvPicPr>
            <a:picLocks noChangeAspect="1"/>
          </p:cNvPicPr>
          <p:nvPr/>
        </p:nvPicPr>
        <p:blipFill>
          <a:blip r:embed="rId2"/>
          <a:stretch>
            <a:fillRect/>
          </a:stretch>
        </p:blipFill>
        <p:spPr>
          <a:xfrm>
            <a:off x="953948" y="963741"/>
            <a:ext cx="10399852" cy="5327522"/>
          </a:xfrm>
          <a:prstGeom prst="rect">
            <a:avLst/>
          </a:prstGeom>
        </p:spPr>
      </p:pic>
      <p:pic>
        <p:nvPicPr>
          <p:cNvPr id="10" name="Picture 9">
            <a:extLst>
              <a:ext uri="{FF2B5EF4-FFF2-40B4-BE49-F238E27FC236}">
                <a16:creationId xmlns:a16="http://schemas.microsoft.com/office/drawing/2014/main" id="{36092A74-EB37-F24F-97B0-294FF63F514B}"/>
              </a:ext>
            </a:extLst>
          </p:cNvPr>
          <p:cNvPicPr>
            <a:picLocks noChangeAspect="1"/>
          </p:cNvPicPr>
          <p:nvPr/>
        </p:nvPicPr>
        <p:blipFill>
          <a:blip r:embed="rId3"/>
          <a:stretch>
            <a:fillRect/>
          </a:stretch>
        </p:blipFill>
        <p:spPr>
          <a:xfrm>
            <a:off x="75902" y="49213"/>
            <a:ext cx="2133898" cy="914528"/>
          </a:xfrm>
          <a:prstGeom prst="rect">
            <a:avLst/>
          </a:prstGeom>
        </p:spPr>
      </p:pic>
    </p:spTree>
    <p:extLst>
      <p:ext uri="{BB962C8B-B14F-4D97-AF65-F5344CB8AC3E}">
        <p14:creationId xmlns:p14="http://schemas.microsoft.com/office/powerpoint/2010/main" val="4165220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0875"/>
            <a:ext cx="10515600" cy="1325563"/>
          </a:xfrm>
        </p:spPr>
        <p:txBody>
          <a:bodyPr/>
          <a:lstStyle/>
          <a:p>
            <a:r>
              <a:rPr lang="en-US" b="1" dirty="0"/>
              <a:t>CO4:</a:t>
            </a:r>
          </a:p>
        </p:txBody>
      </p:sp>
      <p:sp>
        <p:nvSpPr>
          <p:cNvPr id="3" name="Content Placeholder 2"/>
          <p:cNvSpPr>
            <a:spLocks noGrp="1"/>
          </p:cNvSpPr>
          <p:nvPr>
            <p:ph idx="1"/>
          </p:nvPr>
        </p:nvSpPr>
        <p:spPr/>
        <p:txBody>
          <a:bodyPr/>
          <a:lstStyle/>
          <a:p>
            <a:pPr marL="514350" indent="-514350">
              <a:buFont typeface="+mj-lt"/>
              <a:buAutoNum type="arabicPeriod"/>
            </a:pPr>
            <a:r>
              <a:rPr lang="en-US" dirty="0"/>
              <a:t>Event handling (click)  → </a:t>
            </a:r>
            <a:r>
              <a:rPr lang="en-US" dirty="0" err="1"/>
              <a:t>onclick</a:t>
            </a:r>
            <a:r>
              <a:rPr lang="en-US" dirty="0"/>
              <a:t> for buttons</a:t>
            </a:r>
          </a:p>
          <a:p>
            <a:pPr marL="514350" indent="-514350">
              <a:buFont typeface="+mj-lt"/>
              <a:buAutoNum type="arabicPeriod"/>
            </a:pPr>
            <a:r>
              <a:rPr lang="en-US" dirty="0"/>
              <a:t>DOM manipulation → </a:t>
            </a:r>
            <a:r>
              <a:rPr lang="en-US" dirty="0" err="1"/>
              <a:t>document.getElementById</a:t>
            </a:r>
            <a:r>
              <a:rPr lang="en-US" dirty="0"/>
              <a:t>()</a:t>
            </a:r>
          </a:p>
          <a:p>
            <a:pPr marL="514350" indent="-514350">
              <a:buFont typeface="+mj-lt"/>
              <a:buAutoNum type="arabicPeriod"/>
            </a:pPr>
            <a:r>
              <a:rPr lang="en-US" dirty="0"/>
              <a:t>DOM manipulation  → </a:t>
            </a:r>
            <a:r>
              <a:rPr lang="en-US" dirty="0" err="1"/>
              <a:t>innerHTML</a:t>
            </a:r>
            <a:r>
              <a:rPr lang="en-US" dirty="0"/>
              <a:t> (to update task list)</a:t>
            </a:r>
          </a:p>
          <a:p>
            <a:pPr marL="514350" indent="-514350">
              <a:buFont typeface="+mj-lt"/>
              <a:buAutoNum type="arabicPeriod"/>
            </a:pPr>
            <a:r>
              <a:rPr lang="en-US" dirty="0"/>
              <a:t>DOM manipulation  → </a:t>
            </a:r>
            <a:r>
              <a:rPr lang="en-US" dirty="0" err="1"/>
              <a:t>textContent</a:t>
            </a:r>
            <a:r>
              <a:rPr lang="en-US" dirty="0"/>
              <a:t> / </a:t>
            </a:r>
            <a:r>
              <a:rPr lang="en-US" dirty="0" err="1"/>
              <a:t>innerText</a:t>
            </a:r>
            <a:r>
              <a:rPr lang="en-US" dirty="0"/>
              <a:t> (to show tasks)</a:t>
            </a:r>
          </a:p>
        </p:txBody>
      </p:sp>
      <p:sp>
        <p:nvSpPr>
          <p:cNvPr id="4" name="Date Placeholder 3"/>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pPr/>
              <a:t>16</a:t>
            </a:fld>
            <a:endParaRPr lang="en-US"/>
          </a:p>
        </p:txBody>
      </p:sp>
      <p:pic>
        <p:nvPicPr>
          <p:cNvPr id="8" name="Picture 7">
            <a:extLst>
              <a:ext uri="{FF2B5EF4-FFF2-40B4-BE49-F238E27FC236}">
                <a16:creationId xmlns:a16="http://schemas.microsoft.com/office/drawing/2014/main" id="{0F533574-4FC4-0326-2D18-4EEA7B3C5CD4}"/>
              </a:ext>
            </a:extLst>
          </p:cNvPr>
          <p:cNvPicPr>
            <a:picLocks noChangeAspect="1"/>
          </p:cNvPicPr>
          <p:nvPr/>
        </p:nvPicPr>
        <p:blipFill>
          <a:blip r:embed="rId2"/>
          <a:stretch>
            <a:fillRect/>
          </a:stretch>
        </p:blipFill>
        <p:spPr>
          <a:xfrm>
            <a:off x="0" y="0"/>
            <a:ext cx="2133898" cy="91452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26444-FDD2-A628-B823-62088D4B8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029E0-3DB5-ED40-6C1B-59301DD3D7BC}"/>
              </a:ext>
            </a:extLst>
          </p:cNvPr>
          <p:cNvSpPr>
            <a:spLocks noGrp="1"/>
          </p:cNvSpPr>
          <p:nvPr>
            <p:ph type="title"/>
          </p:nvPr>
        </p:nvSpPr>
        <p:spPr/>
        <p:txBody>
          <a:bodyPr/>
          <a:lstStyle/>
          <a:p>
            <a:r>
              <a:rPr lang="en-US" b="1" dirty="0"/>
              <a:t>CO4:</a:t>
            </a:r>
          </a:p>
        </p:txBody>
      </p:sp>
      <p:sp>
        <p:nvSpPr>
          <p:cNvPr id="3" name="Content Placeholder 2">
            <a:extLst>
              <a:ext uri="{FF2B5EF4-FFF2-40B4-BE49-F238E27FC236}">
                <a16:creationId xmlns:a16="http://schemas.microsoft.com/office/drawing/2014/main" id="{81626818-9D71-580D-2E18-D5398F3A1718}"/>
              </a:ext>
            </a:extLst>
          </p:cNvPr>
          <p:cNvSpPr>
            <a:spLocks noGrp="1"/>
          </p:cNvSpPr>
          <p:nvPr>
            <p:ph idx="1"/>
          </p:nvPr>
        </p:nvSpPr>
        <p:spPr/>
        <p:txBody>
          <a:bodyPr/>
          <a:lstStyle/>
          <a:p>
            <a:pPr marL="514350" indent="-514350">
              <a:buFont typeface="+mj-lt"/>
              <a:buAutoNum type="arabicPeriod"/>
            </a:pPr>
            <a:r>
              <a:rPr lang="en-US" dirty="0"/>
              <a:t>Event handling (click)  → </a:t>
            </a:r>
            <a:r>
              <a:rPr lang="en-US" dirty="0" err="1"/>
              <a:t>onclick</a:t>
            </a:r>
            <a:r>
              <a:rPr lang="en-US" dirty="0"/>
              <a:t> for buttons</a:t>
            </a:r>
          </a:p>
          <a:p>
            <a:pPr marL="514350" indent="-514350">
              <a:buFont typeface="+mj-lt"/>
              <a:buAutoNum type="arabicPeriod"/>
            </a:pPr>
            <a:r>
              <a:rPr lang="en-US" dirty="0"/>
              <a:t>DOM manipulation → </a:t>
            </a:r>
            <a:r>
              <a:rPr lang="en-US" dirty="0" err="1"/>
              <a:t>document.getElementById</a:t>
            </a:r>
            <a:r>
              <a:rPr lang="en-US" dirty="0"/>
              <a:t>()</a:t>
            </a:r>
          </a:p>
          <a:p>
            <a:pPr marL="514350" indent="-514350">
              <a:buFont typeface="+mj-lt"/>
              <a:buAutoNum type="arabicPeriod"/>
            </a:pPr>
            <a:r>
              <a:rPr lang="en-US" dirty="0"/>
              <a:t>DOM manipulation  → </a:t>
            </a:r>
            <a:r>
              <a:rPr lang="en-US" dirty="0" err="1"/>
              <a:t>innerHTML</a:t>
            </a:r>
            <a:r>
              <a:rPr lang="en-US" dirty="0"/>
              <a:t> (to update task list)</a:t>
            </a:r>
          </a:p>
          <a:p>
            <a:pPr marL="514350" indent="-514350">
              <a:buFont typeface="+mj-lt"/>
              <a:buAutoNum type="arabicPeriod"/>
            </a:pPr>
            <a:r>
              <a:rPr lang="en-US" dirty="0"/>
              <a:t>DOM manipulation  → </a:t>
            </a:r>
            <a:r>
              <a:rPr lang="en-US" dirty="0" err="1"/>
              <a:t>textContent</a:t>
            </a:r>
            <a:r>
              <a:rPr lang="en-US" dirty="0"/>
              <a:t> / </a:t>
            </a:r>
            <a:r>
              <a:rPr lang="en-US" dirty="0" err="1"/>
              <a:t>innerText</a:t>
            </a:r>
            <a:r>
              <a:rPr lang="en-US" dirty="0"/>
              <a:t> (to show tasks)</a:t>
            </a:r>
          </a:p>
        </p:txBody>
      </p:sp>
      <p:sp>
        <p:nvSpPr>
          <p:cNvPr id="4" name="Date Placeholder 3">
            <a:extLst>
              <a:ext uri="{FF2B5EF4-FFF2-40B4-BE49-F238E27FC236}">
                <a16:creationId xmlns:a16="http://schemas.microsoft.com/office/drawing/2014/main" id="{7ABF8F75-1217-883E-4414-ED3D09AFEE7C}"/>
              </a:ext>
            </a:extLst>
          </p:cNvPr>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a:extLst>
              <a:ext uri="{FF2B5EF4-FFF2-40B4-BE49-F238E27FC236}">
                <a16:creationId xmlns:a16="http://schemas.microsoft.com/office/drawing/2014/main" id="{897C96D3-7979-EF4A-D3FD-F7CEA00C8F99}"/>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D7100E3-0A4E-B91D-A82A-CE46EBF1BE08}"/>
              </a:ext>
            </a:extLst>
          </p:cNvPr>
          <p:cNvSpPr>
            <a:spLocks noGrp="1"/>
          </p:cNvSpPr>
          <p:nvPr>
            <p:ph type="sldNum" sz="quarter" idx="12"/>
          </p:nvPr>
        </p:nvSpPr>
        <p:spPr/>
        <p:txBody>
          <a:bodyPr/>
          <a:lstStyle/>
          <a:p>
            <a:fld id="{B961B71F-4B40-8942-BB88-E0F5C0B46E10}" type="slidenum">
              <a:rPr lang="en-US" smtClean="0"/>
              <a:pPr/>
              <a:t>17</a:t>
            </a:fld>
            <a:endParaRPr lang="en-US"/>
          </a:p>
        </p:txBody>
      </p:sp>
      <p:pic>
        <p:nvPicPr>
          <p:cNvPr id="8" name="Picture 7">
            <a:extLst>
              <a:ext uri="{FF2B5EF4-FFF2-40B4-BE49-F238E27FC236}">
                <a16:creationId xmlns:a16="http://schemas.microsoft.com/office/drawing/2014/main" id="{BAB1ED1D-F62F-682C-CC4F-92474B71D716}"/>
              </a:ext>
            </a:extLst>
          </p:cNvPr>
          <p:cNvPicPr>
            <a:picLocks noChangeAspect="1"/>
          </p:cNvPicPr>
          <p:nvPr/>
        </p:nvPicPr>
        <p:blipFill>
          <a:blip r:embed="rId2"/>
          <a:stretch>
            <a:fillRect/>
          </a:stretch>
        </p:blipFill>
        <p:spPr>
          <a:xfrm>
            <a:off x="838200" y="872556"/>
            <a:ext cx="10515599" cy="5570632"/>
          </a:xfrm>
          <a:prstGeom prst="rect">
            <a:avLst/>
          </a:prstGeom>
        </p:spPr>
      </p:pic>
      <p:pic>
        <p:nvPicPr>
          <p:cNvPr id="10" name="Picture 9">
            <a:extLst>
              <a:ext uri="{FF2B5EF4-FFF2-40B4-BE49-F238E27FC236}">
                <a16:creationId xmlns:a16="http://schemas.microsoft.com/office/drawing/2014/main" id="{824CDA9F-2A52-EE7D-FF61-C765186C7DAB}"/>
              </a:ext>
            </a:extLst>
          </p:cNvPr>
          <p:cNvPicPr>
            <a:picLocks noChangeAspect="1"/>
          </p:cNvPicPr>
          <p:nvPr/>
        </p:nvPicPr>
        <p:blipFill>
          <a:blip r:embed="rId3"/>
          <a:stretch>
            <a:fillRect/>
          </a:stretch>
        </p:blipFill>
        <p:spPr>
          <a:xfrm>
            <a:off x="0" y="-30320"/>
            <a:ext cx="2133898" cy="914528"/>
          </a:xfrm>
          <a:prstGeom prst="rect">
            <a:avLst/>
          </a:prstGeom>
        </p:spPr>
      </p:pic>
    </p:spTree>
    <p:extLst>
      <p:ext uri="{BB962C8B-B14F-4D97-AF65-F5344CB8AC3E}">
        <p14:creationId xmlns:p14="http://schemas.microsoft.com/office/powerpoint/2010/main" val="2567000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CO5:</a:t>
            </a:r>
          </a:p>
        </p:txBody>
      </p:sp>
      <p:sp>
        <p:nvSpPr>
          <p:cNvPr id="3" name="Content Placeholder 2"/>
          <p:cNvSpPr>
            <a:spLocks noGrp="1"/>
          </p:cNvSpPr>
          <p:nvPr>
            <p:ph idx="1"/>
          </p:nvPr>
        </p:nvSpPr>
        <p:spPr/>
        <p:txBody>
          <a:bodyPr/>
          <a:lstStyle/>
          <a:p>
            <a:r>
              <a:rPr lang="en-US" dirty="0"/>
              <a:t>JavaScript Features</a:t>
            </a:r>
          </a:p>
          <a:p>
            <a:pPr>
              <a:buNone/>
            </a:pPr>
            <a:r>
              <a:rPr lang="en-US" dirty="0"/>
              <a:t>- Handling user input dynamically  → User enters task and priority and JavaScript processes it. </a:t>
            </a:r>
          </a:p>
          <a:p>
            <a:r>
              <a:rPr lang="en-US" dirty="0"/>
              <a:t>Performance Optimization &amp; SEO</a:t>
            </a:r>
          </a:p>
          <a:p>
            <a:pPr>
              <a:buNone/>
            </a:pPr>
            <a:r>
              <a:rPr lang="en-US" dirty="0"/>
              <a:t>- Basic webpage loading in browser  → HTML page loads and runs in the browser.</a:t>
            </a:r>
          </a:p>
        </p:txBody>
      </p:sp>
      <p:sp>
        <p:nvSpPr>
          <p:cNvPr id="4" name="Date Placeholder 3"/>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D0456-FAA9-7828-3DB4-04F4A2EEC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E41F1-E327-7FA2-39FD-582E0D4D7874}"/>
              </a:ext>
            </a:extLst>
          </p:cNvPr>
          <p:cNvSpPr>
            <a:spLocks noGrp="1"/>
          </p:cNvSpPr>
          <p:nvPr>
            <p:ph type="title"/>
          </p:nvPr>
        </p:nvSpPr>
        <p:spPr/>
        <p:txBody>
          <a:bodyPr/>
          <a:lstStyle/>
          <a:p>
            <a:r>
              <a:rPr lang="en-US" b="1" dirty="0"/>
              <a:t>CO5:</a:t>
            </a:r>
          </a:p>
        </p:txBody>
      </p:sp>
      <p:sp>
        <p:nvSpPr>
          <p:cNvPr id="3" name="Content Placeholder 2">
            <a:extLst>
              <a:ext uri="{FF2B5EF4-FFF2-40B4-BE49-F238E27FC236}">
                <a16:creationId xmlns:a16="http://schemas.microsoft.com/office/drawing/2014/main" id="{05A3E1A1-6BB2-18CD-823F-4EEA53F5BF0B}"/>
              </a:ext>
            </a:extLst>
          </p:cNvPr>
          <p:cNvSpPr>
            <a:spLocks noGrp="1"/>
          </p:cNvSpPr>
          <p:nvPr>
            <p:ph idx="1"/>
          </p:nvPr>
        </p:nvSpPr>
        <p:spPr/>
        <p:txBody>
          <a:bodyPr/>
          <a:lstStyle/>
          <a:p>
            <a:r>
              <a:rPr lang="en-US" dirty="0"/>
              <a:t>JavaScript Features</a:t>
            </a:r>
          </a:p>
          <a:p>
            <a:pPr>
              <a:buNone/>
            </a:pPr>
            <a:r>
              <a:rPr lang="en-US" dirty="0"/>
              <a:t>- Handling user input dynamically  → User enters task and priority and JavaScript processes it. </a:t>
            </a:r>
          </a:p>
          <a:p>
            <a:r>
              <a:rPr lang="en-US" dirty="0"/>
              <a:t>Performance Optimization &amp; SEO</a:t>
            </a:r>
          </a:p>
          <a:p>
            <a:pPr>
              <a:buNone/>
            </a:pPr>
            <a:r>
              <a:rPr lang="en-US" dirty="0"/>
              <a:t>- Basic webpage loading in browser  → HTML page loads and runs in the browser.</a:t>
            </a:r>
          </a:p>
        </p:txBody>
      </p:sp>
      <p:sp>
        <p:nvSpPr>
          <p:cNvPr id="4" name="Date Placeholder 3">
            <a:extLst>
              <a:ext uri="{FF2B5EF4-FFF2-40B4-BE49-F238E27FC236}">
                <a16:creationId xmlns:a16="http://schemas.microsoft.com/office/drawing/2014/main" id="{1169CF38-44AA-D4B5-B769-CC3BDD6725B3}"/>
              </a:ext>
            </a:extLst>
          </p:cNvPr>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a:extLst>
              <a:ext uri="{FF2B5EF4-FFF2-40B4-BE49-F238E27FC236}">
                <a16:creationId xmlns:a16="http://schemas.microsoft.com/office/drawing/2014/main" id="{D4E4E983-51CF-4446-7D3F-7BE8B1B6C740}"/>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44DA433-BB5F-9998-5FE2-22516449A2AD}"/>
              </a:ext>
            </a:extLst>
          </p:cNvPr>
          <p:cNvSpPr>
            <a:spLocks noGrp="1"/>
          </p:cNvSpPr>
          <p:nvPr>
            <p:ph type="sldNum" sz="quarter" idx="12"/>
          </p:nvPr>
        </p:nvSpPr>
        <p:spPr/>
        <p:txBody>
          <a:bodyPr/>
          <a:lstStyle/>
          <a:p>
            <a:fld id="{B961B71F-4B40-8942-BB88-E0F5C0B46E10}" type="slidenum">
              <a:rPr lang="en-US" smtClean="0"/>
              <a:pPr/>
              <a:t>19</a:t>
            </a:fld>
            <a:endParaRPr lang="en-US"/>
          </a:p>
        </p:txBody>
      </p:sp>
      <p:pic>
        <p:nvPicPr>
          <p:cNvPr id="8" name="Picture 7">
            <a:extLst>
              <a:ext uri="{FF2B5EF4-FFF2-40B4-BE49-F238E27FC236}">
                <a16:creationId xmlns:a16="http://schemas.microsoft.com/office/drawing/2014/main" id="{57B96FD9-CC3F-1219-F173-3A1CCB525C18}"/>
              </a:ext>
            </a:extLst>
          </p:cNvPr>
          <p:cNvPicPr>
            <a:picLocks noChangeAspect="1"/>
          </p:cNvPicPr>
          <p:nvPr/>
        </p:nvPicPr>
        <p:blipFill>
          <a:blip r:embed="rId2"/>
          <a:stretch>
            <a:fillRect/>
          </a:stretch>
        </p:blipFill>
        <p:spPr>
          <a:xfrm>
            <a:off x="838200" y="681037"/>
            <a:ext cx="10515600" cy="5495926"/>
          </a:xfrm>
          <a:prstGeom prst="rect">
            <a:avLst/>
          </a:prstGeom>
        </p:spPr>
      </p:pic>
    </p:spTree>
    <p:extLst>
      <p:ext uri="{BB962C8B-B14F-4D97-AF65-F5344CB8AC3E}">
        <p14:creationId xmlns:p14="http://schemas.microsoft.com/office/powerpoint/2010/main" val="199339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 for FWD </a:t>
            </a:r>
          </a:p>
        </p:txBody>
      </p:sp>
      <p:pic>
        <p:nvPicPr>
          <p:cNvPr id="7" name="Content Placeholder 6" descr="Screenshot (57).png"/>
          <p:cNvPicPr>
            <a:picLocks noGrp="1" noChangeAspect="1"/>
          </p:cNvPicPr>
          <p:nvPr>
            <p:ph idx="1"/>
          </p:nvPr>
        </p:nvPicPr>
        <p:blipFill>
          <a:blip r:embed="rId2"/>
          <a:stretch>
            <a:fillRect/>
          </a:stretch>
        </p:blipFill>
        <p:spPr>
          <a:xfrm>
            <a:off x="2226255" y="1825625"/>
            <a:ext cx="7739489" cy="4351338"/>
          </a:xfr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pPr/>
              <a:t>20</a:t>
            </a:fld>
            <a:endParaRPr lang="en-US"/>
          </a:p>
        </p:txBody>
      </p:sp>
    </p:spTree>
    <p:extLst>
      <p:ext uri="{BB962C8B-B14F-4D97-AF65-F5344CB8AC3E}">
        <p14:creationId xmlns:p14="http://schemas.microsoft.com/office/powerpoint/2010/main" val="3431953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pPr marL="0" indent="0">
              <a:buNone/>
            </a:pPr>
            <a:r>
              <a:rPr lang="en-US" dirty="0"/>
              <a:t>This project developed a Simple To-Do List Web Application that helps users manage their daily tasks efficiently. It demonstrates how web technologies (HTML, CSS, JavaScript) can be combined with data structures such as Linked List, Queue, Stack, and Priority Queue to organize and process tasks. The application allows users to add tasks, assign priorities, and mark tasks as completed through an interactive interface. Overall, the project highlights the practical use of data structures in a real-world web application and improves task organization and management.</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pPr/>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pPr/>
              <a:t>21</a:t>
            </a:fld>
            <a:endParaRPr lang="en-US"/>
          </a:p>
        </p:txBody>
      </p:sp>
    </p:spTree>
    <p:extLst>
      <p:ext uri="{BB962C8B-B14F-4D97-AF65-F5344CB8AC3E}">
        <p14:creationId xmlns:p14="http://schemas.microsoft.com/office/powerpoint/2010/main" val="2858912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pPr/>
              <a:t>22</a:t>
            </a:fld>
            <a:endParaRPr lang="en-US"/>
          </a:p>
        </p:txBody>
      </p:sp>
      <p:pic>
        <p:nvPicPr>
          <p:cNvPr id="9" name="Picture 8">
            <a:extLst>
              <a:ext uri="{FF2B5EF4-FFF2-40B4-BE49-F238E27FC236}">
                <a16:creationId xmlns:a16="http://schemas.microsoft.com/office/drawing/2014/main" id="{2AE0F4B8-3A85-D641-874A-DCA3C49F16F5}"/>
              </a:ext>
            </a:extLst>
          </p:cNvPr>
          <p:cNvPicPr>
            <a:picLocks noChangeAspect="1"/>
          </p:cNvPicPr>
          <p:nvPr/>
        </p:nvPicPr>
        <p:blipFill>
          <a:blip r:embed="rId2"/>
          <a:stretch>
            <a:fillRect/>
          </a:stretch>
        </p:blipFill>
        <p:spPr>
          <a:xfrm>
            <a:off x="838200" y="1841498"/>
            <a:ext cx="4937761" cy="3714894"/>
          </a:xfrm>
          <a:prstGeom prst="rect">
            <a:avLst/>
          </a:prstGeom>
        </p:spPr>
      </p:pic>
      <p:pic>
        <p:nvPicPr>
          <p:cNvPr id="11" name="Picture 10">
            <a:extLst>
              <a:ext uri="{FF2B5EF4-FFF2-40B4-BE49-F238E27FC236}">
                <a16:creationId xmlns:a16="http://schemas.microsoft.com/office/drawing/2014/main" id="{57FC1BE2-C2C3-1E85-C866-37ADFFB0AFBB}"/>
              </a:ext>
            </a:extLst>
          </p:cNvPr>
          <p:cNvPicPr>
            <a:picLocks noChangeAspect="1"/>
          </p:cNvPicPr>
          <p:nvPr/>
        </p:nvPicPr>
        <p:blipFill>
          <a:blip r:embed="rId3"/>
          <a:stretch>
            <a:fillRect/>
          </a:stretch>
        </p:blipFill>
        <p:spPr>
          <a:xfrm>
            <a:off x="6236941" y="1841497"/>
            <a:ext cx="5063519" cy="3714893"/>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pPr/>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pPr/>
              <a:t>23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4332</TotalTime>
  <Words>1539</Words>
  <Application>Microsoft Office PowerPoint</Application>
  <PresentationFormat>Widescreen</PresentationFormat>
  <Paragraphs>221</Paragraphs>
  <Slides>23</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23</vt:i4>
      </vt:variant>
    </vt:vector>
  </HeadingPairs>
  <TitlesOfParts>
    <vt:vector size="28" baseType="lpstr">
      <vt:lpstr>Arial</vt:lpstr>
      <vt:lpstr>Calibri</vt:lpstr>
      <vt:lpstr>Calibri Light</vt:lpstr>
      <vt:lpstr>Office Theme</vt:lpstr>
      <vt:lpstr>Custom Design</vt:lpstr>
      <vt:lpstr>Title: To Do Task</vt:lpstr>
      <vt:lpstr>OUTLINE</vt:lpstr>
      <vt:lpstr>ABSTRACT </vt:lpstr>
      <vt:lpstr>ABSTRACT</vt:lpstr>
      <vt:lpstr>Existing System </vt:lpstr>
      <vt:lpstr>Proposed System</vt:lpstr>
      <vt:lpstr>System Architecture</vt:lpstr>
      <vt:lpstr>Project Modules</vt:lpstr>
      <vt:lpstr>Objectives</vt:lpstr>
      <vt:lpstr>Co’sAttainments–FWD CO1</vt:lpstr>
      <vt:lpstr>Co’sAttainments–FWD </vt:lpstr>
      <vt:lpstr>CO2:</vt:lpstr>
      <vt:lpstr>PowerPoint Presentation</vt:lpstr>
      <vt:lpstr>CO3:</vt:lpstr>
      <vt:lpstr>CO3:</vt:lpstr>
      <vt:lpstr>CO4:</vt:lpstr>
      <vt:lpstr>CO4:</vt:lpstr>
      <vt:lpstr>CO5:</vt:lpstr>
      <vt:lpstr>CO5:</vt:lpstr>
      <vt:lpstr>Screenshot for FWD </vt:lpstr>
      <vt:lpstr>Conclusion</vt:lpstr>
      <vt:lpstr>Geo- Tag Photos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Utkarsh Pankaj</cp:lastModifiedBy>
  <cp:revision>61</cp:revision>
  <dcterms:created xsi:type="dcterms:W3CDTF">2022-05-20T10:20:31Z</dcterms:created>
  <dcterms:modified xsi:type="dcterms:W3CDTF">2026-03-09T17:58:40Z</dcterms:modified>
</cp:coreProperties>
</file>